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9E75"/>
    <a:srgbClr val="106E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93"/>
    <p:restoredTop sz="86410"/>
  </p:normalViewPr>
  <p:slideViewPr>
    <p:cSldViewPr snapToGrid="0">
      <p:cViewPr>
        <p:scale>
          <a:sx n="54" d="100"/>
          <a:sy n="54" d="100"/>
        </p:scale>
        <p:origin x="144" y="18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533454-88E3-435E-A7F4-AA362E8A3B1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C12662-E32F-468D-A6ED-E37E896CA00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 err="1"/>
            <a:t>We</a:t>
          </a:r>
          <a:r>
            <a:rPr lang="de-DE" dirty="0"/>
            <a:t> </a:t>
          </a:r>
          <a:r>
            <a:rPr lang="de-DE" dirty="0" err="1"/>
            <a:t>managed</a:t>
          </a:r>
          <a:r>
            <a:rPr lang="de-DE" dirty="0"/>
            <a:t> </a:t>
          </a:r>
          <a:r>
            <a:rPr lang="de-DE" dirty="0" err="1"/>
            <a:t>to</a:t>
          </a:r>
          <a:r>
            <a:rPr lang="de-DE" dirty="0"/>
            <a:t> </a:t>
          </a:r>
          <a:r>
            <a:rPr lang="de-DE" dirty="0" err="1"/>
            <a:t>adjust</a:t>
          </a:r>
          <a:r>
            <a:rPr lang="de-DE" dirty="0"/>
            <a:t> </a:t>
          </a:r>
          <a:r>
            <a:rPr lang="de-DE" dirty="0" err="1"/>
            <a:t>our</a:t>
          </a:r>
          <a:r>
            <a:rPr lang="de-DE" dirty="0"/>
            <a:t> </a:t>
          </a:r>
          <a:r>
            <a:rPr lang="de-DE" dirty="0" err="1"/>
            <a:t>model</a:t>
          </a:r>
          <a:r>
            <a:rPr lang="de-DE" dirty="0"/>
            <a:t> </a:t>
          </a:r>
          <a:r>
            <a:rPr lang="de-DE" dirty="0" err="1"/>
            <a:t>to</a:t>
          </a:r>
          <a:r>
            <a:rPr lang="de-DE" dirty="0"/>
            <a:t> </a:t>
          </a:r>
          <a:r>
            <a:rPr lang="de-DE" dirty="0" err="1"/>
            <a:t>reach</a:t>
          </a:r>
          <a:r>
            <a:rPr lang="de-DE" dirty="0"/>
            <a:t> a </a:t>
          </a:r>
          <a:r>
            <a:rPr lang="de-DE" dirty="0" err="1"/>
            <a:t>success</a:t>
          </a:r>
          <a:r>
            <a:rPr lang="de-DE" dirty="0"/>
            <a:t> rate </a:t>
          </a:r>
          <a:r>
            <a:rPr lang="de-DE" dirty="0" err="1"/>
            <a:t>of</a:t>
          </a:r>
          <a:r>
            <a:rPr lang="de-DE" dirty="0"/>
            <a:t> 94% </a:t>
          </a:r>
          <a:r>
            <a:rPr lang="de-DE" dirty="0" err="1"/>
            <a:t>with</a:t>
          </a:r>
          <a:r>
            <a:rPr lang="de-DE" dirty="0"/>
            <a:t> a </a:t>
          </a:r>
          <a:r>
            <a:rPr lang="de-DE" dirty="0" err="1"/>
            <a:t>start</a:t>
          </a:r>
          <a:r>
            <a:rPr lang="de-DE" dirty="0"/>
            <a:t> </a:t>
          </a:r>
          <a:r>
            <a:rPr lang="de-DE" dirty="0" err="1"/>
            <a:t>of</a:t>
          </a:r>
          <a:r>
            <a:rPr lang="de-DE" dirty="0"/>
            <a:t> 22%</a:t>
          </a:r>
          <a:endParaRPr lang="en-US" dirty="0"/>
        </a:p>
      </dgm:t>
    </dgm:pt>
    <dgm:pt modelId="{6441A912-B8AE-4D62-B119-76A22690D285}" type="parTrans" cxnId="{C806BDCB-6985-4AC9-8636-EC5483EB895D}">
      <dgm:prSet/>
      <dgm:spPr/>
      <dgm:t>
        <a:bodyPr/>
        <a:lstStyle/>
        <a:p>
          <a:endParaRPr lang="en-US"/>
        </a:p>
      </dgm:t>
    </dgm:pt>
    <dgm:pt modelId="{5D588B93-55BC-489A-B3EB-71D3A76E91D4}" type="sibTrans" cxnId="{C806BDCB-6985-4AC9-8636-EC5483EB89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C736EFF-F7B1-4480-9FE7-4833AD69F6B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The strongest impact was from describing the tables to the model and adjusting the model from llama to qwen</a:t>
          </a:r>
          <a:endParaRPr lang="en-US"/>
        </a:p>
      </dgm:t>
    </dgm:pt>
    <dgm:pt modelId="{0A67B242-8BBD-4AB6-B67E-32281DCDB89B}" type="parTrans" cxnId="{2B8B44E6-75BA-4E12-828C-8D767B9805FE}">
      <dgm:prSet/>
      <dgm:spPr/>
      <dgm:t>
        <a:bodyPr/>
        <a:lstStyle/>
        <a:p>
          <a:endParaRPr lang="en-US"/>
        </a:p>
      </dgm:t>
    </dgm:pt>
    <dgm:pt modelId="{A98F62DB-E2B9-4682-B568-11FDA23D9D10}" type="sibTrans" cxnId="{2B8B44E6-75BA-4E12-828C-8D767B9805F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B78D25-6A36-7747-9617-53FDD3EB762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Simple LangGraph-based multi-step reasoning is only working with additional enhancements </a:t>
          </a:r>
        </a:p>
      </dgm:t>
    </dgm:pt>
    <dgm:pt modelId="{B1935FAF-0650-2549-B51A-37899F5966D9}" type="parTrans" cxnId="{BE511398-033E-4A40-BD40-DD69C26CDFC5}">
      <dgm:prSet/>
      <dgm:spPr/>
      <dgm:t>
        <a:bodyPr/>
        <a:lstStyle/>
        <a:p>
          <a:endParaRPr lang="en-GB"/>
        </a:p>
      </dgm:t>
    </dgm:pt>
    <dgm:pt modelId="{6DA6CE6C-AFF1-394A-BFE1-C4B8C3825FD2}" type="sibTrans" cxnId="{BE511398-033E-4A40-BD40-DD69C26CDFC5}">
      <dgm:prSet/>
      <dgm:spPr/>
      <dgm:t>
        <a:bodyPr/>
        <a:lstStyle/>
        <a:p>
          <a:pPr>
            <a:lnSpc>
              <a:spcPct val="100000"/>
            </a:lnSpc>
          </a:pPr>
          <a:endParaRPr lang="en-GB"/>
        </a:p>
      </dgm:t>
    </dgm:pt>
    <dgm:pt modelId="{F2C95E48-3E38-1D43-ABB3-EEB844CE35F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Today is a good day to get 20/20 points ;) </a:t>
          </a:r>
          <a:r>
            <a:rPr lang="en-CH" b="0" i="0" dirty="0"/>
            <a:t>thanks for reviewing</a:t>
          </a:r>
          <a:endParaRPr lang="en-GB" i="0" dirty="0"/>
        </a:p>
      </dgm:t>
    </dgm:pt>
    <dgm:pt modelId="{E6862275-B241-0742-B301-02DCAF91F694}" type="parTrans" cxnId="{72E16593-4F2B-664F-9537-0D6D024A4EDC}">
      <dgm:prSet/>
      <dgm:spPr/>
      <dgm:t>
        <a:bodyPr/>
        <a:lstStyle/>
        <a:p>
          <a:endParaRPr lang="en-GB"/>
        </a:p>
      </dgm:t>
    </dgm:pt>
    <dgm:pt modelId="{3F46F360-6DC8-F149-A0E6-A277676107BB}" type="sibTrans" cxnId="{72E16593-4F2B-664F-9537-0D6D024A4EDC}">
      <dgm:prSet/>
      <dgm:spPr/>
      <dgm:t>
        <a:bodyPr/>
        <a:lstStyle/>
        <a:p>
          <a:endParaRPr lang="en-GB"/>
        </a:p>
      </dgm:t>
    </dgm:pt>
    <dgm:pt modelId="{F080DA07-85B1-4AA6-8613-C1C9FB0A1A70}" type="pres">
      <dgm:prSet presAssocID="{B3533454-88E3-435E-A7F4-AA362E8A3B12}" presName="root" presStyleCnt="0">
        <dgm:presLayoutVars>
          <dgm:dir/>
          <dgm:resizeHandles val="exact"/>
        </dgm:presLayoutVars>
      </dgm:prSet>
      <dgm:spPr/>
    </dgm:pt>
    <dgm:pt modelId="{9C125EC9-CB85-416C-8755-C0A1A67468A3}" type="pres">
      <dgm:prSet presAssocID="{EBC12662-E32F-468D-A6ED-E37E896CA00A}" presName="compNode" presStyleCnt="0"/>
      <dgm:spPr/>
    </dgm:pt>
    <dgm:pt modelId="{8E61EBAC-A023-4FE2-8907-D27C65D92F56}" type="pres">
      <dgm:prSet presAssocID="{EBC12662-E32F-468D-A6ED-E37E896CA00A}" presName="bgRect" presStyleLbl="bgShp" presStyleIdx="0" presStyleCnt="4"/>
      <dgm:spPr/>
    </dgm:pt>
    <dgm:pt modelId="{8C4E25CF-94A6-45FF-B082-EF10CB65DDBF}" type="pres">
      <dgm:prSet presAssocID="{EBC12662-E32F-468D-A6ED-E37E896CA00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DFB060AD-B89B-4028-BA8F-41AA81D4DD43}" type="pres">
      <dgm:prSet presAssocID="{EBC12662-E32F-468D-A6ED-E37E896CA00A}" presName="spaceRect" presStyleCnt="0"/>
      <dgm:spPr/>
    </dgm:pt>
    <dgm:pt modelId="{84A2AF5B-42FD-422C-99C9-189EB2E76468}" type="pres">
      <dgm:prSet presAssocID="{EBC12662-E32F-468D-A6ED-E37E896CA00A}" presName="parTx" presStyleLbl="revTx" presStyleIdx="0" presStyleCnt="4">
        <dgm:presLayoutVars>
          <dgm:chMax val="0"/>
          <dgm:chPref val="0"/>
        </dgm:presLayoutVars>
      </dgm:prSet>
      <dgm:spPr/>
    </dgm:pt>
    <dgm:pt modelId="{962E6326-782F-4435-A9A4-889AB971D772}" type="pres">
      <dgm:prSet presAssocID="{5D588B93-55BC-489A-B3EB-71D3A76E91D4}" presName="sibTrans" presStyleCnt="0"/>
      <dgm:spPr/>
    </dgm:pt>
    <dgm:pt modelId="{195D4864-FE0A-4E78-841A-A4AD81C6F2B5}" type="pres">
      <dgm:prSet presAssocID="{84B78D25-6A36-7747-9617-53FDD3EB7626}" presName="compNode" presStyleCnt="0"/>
      <dgm:spPr/>
    </dgm:pt>
    <dgm:pt modelId="{A12AF93E-2BD1-473F-82CC-4C2A5ABD3970}" type="pres">
      <dgm:prSet presAssocID="{84B78D25-6A36-7747-9617-53FDD3EB7626}" presName="bgRect" presStyleLbl="bgShp" presStyleIdx="1" presStyleCnt="4"/>
      <dgm:spPr/>
    </dgm:pt>
    <dgm:pt modelId="{9258D4B2-3FC1-4709-91EE-F4C5550B779C}" type="pres">
      <dgm:prSet presAssocID="{84B78D25-6A36-7747-9617-53FDD3EB762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B030F02E-BE3B-4781-B39B-746D189E7E0E}" type="pres">
      <dgm:prSet presAssocID="{84B78D25-6A36-7747-9617-53FDD3EB7626}" presName="spaceRect" presStyleCnt="0"/>
      <dgm:spPr/>
    </dgm:pt>
    <dgm:pt modelId="{70659759-01CC-4EAE-AF47-A1036164A55C}" type="pres">
      <dgm:prSet presAssocID="{84B78D25-6A36-7747-9617-53FDD3EB7626}" presName="parTx" presStyleLbl="revTx" presStyleIdx="1" presStyleCnt="4">
        <dgm:presLayoutVars>
          <dgm:chMax val="0"/>
          <dgm:chPref val="0"/>
        </dgm:presLayoutVars>
      </dgm:prSet>
      <dgm:spPr/>
    </dgm:pt>
    <dgm:pt modelId="{A183BCAC-5D62-4F84-A963-C4B7A92A7C53}" type="pres">
      <dgm:prSet presAssocID="{6DA6CE6C-AFF1-394A-BFE1-C4B8C3825FD2}" presName="sibTrans" presStyleCnt="0"/>
      <dgm:spPr/>
    </dgm:pt>
    <dgm:pt modelId="{7A75108C-B199-4F56-8C23-AF4CDD169E3D}" type="pres">
      <dgm:prSet presAssocID="{1C736EFF-F7B1-4480-9FE7-4833AD69F6B2}" presName="compNode" presStyleCnt="0"/>
      <dgm:spPr/>
    </dgm:pt>
    <dgm:pt modelId="{890BABE8-5E1A-40CC-B9BA-8211FE311F12}" type="pres">
      <dgm:prSet presAssocID="{1C736EFF-F7B1-4480-9FE7-4833AD69F6B2}" presName="bgRect" presStyleLbl="bgShp" presStyleIdx="2" presStyleCnt="4"/>
      <dgm:spPr/>
    </dgm:pt>
    <dgm:pt modelId="{2FEC9AA2-FF73-4DF2-82F4-534261C5B0C1}" type="pres">
      <dgm:prSet presAssocID="{1C736EFF-F7B1-4480-9FE7-4833AD69F6B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F5D8724A-8678-4760-B6E5-D24B3DFBF6DE}" type="pres">
      <dgm:prSet presAssocID="{1C736EFF-F7B1-4480-9FE7-4833AD69F6B2}" presName="spaceRect" presStyleCnt="0"/>
      <dgm:spPr/>
    </dgm:pt>
    <dgm:pt modelId="{1D9AF384-5746-4325-B1F7-A5E3E4DC50A4}" type="pres">
      <dgm:prSet presAssocID="{1C736EFF-F7B1-4480-9FE7-4833AD69F6B2}" presName="parTx" presStyleLbl="revTx" presStyleIdx="2" presStyleCnt="4">
        <dgm:presLayoutVars>
          <dgm:chMax val="0"/>
          <dgm:chPref val="0"/>
        </dgm:presLayoutVars>
      </dgm:prSet>
      <dgm:spPr/>
    </dgm:pt>
    <dgm:pt modelId="{53A95986-3DBF-40B3-9843-DE247DB6B114}" type="pres">
      <dgm:prSet presAssocID="{A98F62DB-E2B9-4682-B568-11FDA23D9D10}" presName="sibTrans" presStyleCnt="0"/>
      <dgm:spPr/>
    </dgm:pt>
    <dgm:pt modelId="{02E59C62-F39E-4156-96B3-2D7E3DB89CA6}" type="pres">
      <dgm:prSet presAssocID="{F2C95E48-3E38-1D43-ABB3-EEB844CE35F7}" presName="compNode" presStyleCnt="0"/>
      <dgm:spPr/>
    </dgm:pt>
    <dgm:pt modelId="{7335EE2C-8F1B-4801-B1E3-A333593618CD}" type="pres">
      <dgm:prSet presAssocID="{F2C95E48-3E38-1D43-ABB3-EEB844CE35F7}" presName="bgRect" presStyleLbl="bgShp" presStyleIdx="3" presStyleCnt="4"/>
      <dgm:spPr/>
    </dgm:pt>
    <dgm:pt modelId="{056701A2-BB72-4974-A299-5F9BC32F587D}" type="pres">
      <dgm:prSet presAssocID="{F2C95E48-3E38-1D43-ABB3-EEB844CE35F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hale"/>
        </a:ext>
      </dgm:extLst>
    </dgm:pt>
    <dgm:pt modelId="{8147F145-5BA0-497E-831E-A26997A2509E}" type="pres">
      <dgm:prSet presAssocID="{F2C95E48-3E38-1D43-ABB3-EEB844CE35F7}" presName="spaceRect" presStyleCnt="0"/>
      <dgm:spPr/>
    </dgm:pt>
    <dgm:pt modelId="{BA61068E-633F-4443-B175-A2D98E476D33}" type="pres">
      <dgm:prSet presAssocID="{F2C95E48-3E38-1D43-ABB3-EEB844CE35F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D3CAE1D-E938-3849-8B50-7641D71EFF62}" type="presOf" srcId="{F2C95E48-3E38-1D43-ABB3-EEB844CE35F7}" destId="{BA61068E-633F-4443-B175-A2D98E476D33}" srcOrd="0" destOrd="0" presId="urn:microsoft.com/office/officeart/2018/2/layout/IconVerticalSolidList"/>
    <dgm:cxn modelId="{ED7D8942-F9FE-1241-BA8B-4D12EB250913}" type="presOf" srcId="{EBC12662-E32F-468D-A6ED-E37E896CA00A}" destId="{84A2AF5B-42FD-422C-99C9-189EB2E76468}" srcOrd="0" destOrd="0" presId="urn:microsoft.com/office/officeart/2018/2/layout/IconVerticalSolidList"/>
    <dgm:cxn modelId="{5E0CFE48-CEA6-944B-8CA2-58A0D45BCE50}" type="presOf" srcId="{84B78D25-6A36-7747-9617-53FDD3EB7626}" destId="{70659759-01CC-4EAE-AF47-A1036164A55C}" srcOrd="0" destOrd="0" presId="urn:microsoft.com/office/officeart/2018/2/layout/IconVerticalSolidList"/>
    <dgm:cxn modelId="{63E04453-26EF-8A4D-87BB-68B2D783D975}" type="presOf" srcId="{B3533454-88E3-435E-A7F4-AA362E8A3B12}" destId="{F080DA07-85B1-4AA6-8613-C1C9FB0A1A70}" srcOrd="0" destOrd="0" presId="urn:microsoft.com/office/officeart/2018/2/layout/IconVerticalSolidList"/>
    <dgm:cxn modelId="{4643D468-AA70-C446-8574-5D43E119E452}" type="presOf" srcId="{1C736EFF-F7B1-4480-9FE7-4833AD69F6B2}" destId="{1D9AF384-5746-4325-B1F7-A5E3E4DC50A4}" srcOrd="0" destOrd="0" presId="urn:microsoft.com/office/officeart/2018/2/layout/IconVerticalSolidList"/>
    <dgm:cxn modelId="{72E16593-4F2B-664F-9537-0D6D024A4EDC}" srcId="{B3533454-88E3-435E-A7F4-AA362E8A3B12}" destId="{F2C95E48-3E38-1D43-ABB3-EEB844CE35F7}" srcOrd="3" destOrd="0" parTransId="{E6862275-B241-0742-B301-02DCAF91F694}" sibTransId="{3F46F360-6DC8-F149-A0E6-A277676107BB}"/>
    <dgm:cxn modelId="{BE511398-033E-4A40-BD40-DD69C26CDFC5}" srcId="{B3533454-88E3-435E-A7F4-AA362E8A3B12}" destId="{84B78D25-6A36-7747-9617-53FDD3EB7626}" srcOrd="1" destOrd="0" parTransId="{B1935FAF-0650-2549-B51A-37899F5966D9}" sibTransId="{6DA6CE6C-AFF1-394A-BFE1-C4B8C3825FD2}"/>
    <dgm:cxn modelId="{C806BDCB-6985-4AC9-8636-EC5483EB895D}" srcId="{B3533454-88E3-435E-A7F4-AA362E8A3B12}" destId="{EBC12662-E32F-468D-A6ED-E37E896CA00A}" srcOrd="0" destOrd="0" parTransId="{6441A912-B8AE-4D62-B119-76A22690D285}" sibTransId="{5D588B93-55BC-489A-B3EB-71D3A76E91D4}"/>
    <dgm:cxn modelId="{2B8B44E6-75BA-4E12-828C-8D767B9805FE}" srcId="{B3533454-88E3-435E-A7F4-AA362E8A3B12}" destId="{1C736EFF-F7B1-4480-9FE7-4833AD69F6B2}" srcOrd="2" destOrd="0" parTransId="{0A67B242-8BBD-4AB6-B67E-32281DCDB89B}" sibTransId="{A98F62DB-E2B9-4682-B568-11FDA23D9D10}"/>
    <dgm:cxn modelId="{2456335C-1F37-1F49-8D5F-B2D0051E4C9B}" type="presParOf" srcId="{F080DA07-85B1-4AA6-8613-C1C9FB0A1A70}" destId="{9C125EC9-CB85-416C-8755-C0A1A67468A3}" srcOrd="0" destOrd="0" presId="urn:microsoft.com/office/officeart/2018/2/layout/IconVerticalSolidList"/>
    <dgm:cxn modelId="{85AA313B-F3BE-B74C-A561-314822DE601F}" type="presParOf" srcId="{9C125EC9-CB85-416C-8755-C0A1A67468A3}" destId="{8E61EBAC-A023-4FE2-8907-D27C65D92F56}" srcOrd="0" destOrd="0" presId="urn:microsoft.com/office/officeart/2018/2/layout/IconVerticalSolidList"/>
    <dgm:cxn modelId="{5BE60ADB-F446-CA41-A2F8-E89317DB090A}" type="presParOf" srcId="{9C125EC9-CB85-416C-8755-C0A1A67468A3}" destId="{8C4E25CF-94A6-45FF-B082-EF10CB65DDBF}" srcOrd="1" destOrd="0" presId="urn:microsoft.com/office/officeart/2018/2/layout/IconVerticalSolidList"/>
    <dgm:cxn modelId="{83AD51DF-FDFC-CE43-BA45-4411AF7878C0}" type="presParOf" srcId="{9C125EC9-CB85-416C-8755-C0A1A67468A3}" destId="{DFB060AD-B89B-4028-BA8F-41AA81D4DD43}" srcOrd="2" destOrd="0" presId="urn:microsoft.com/office/officeart/2018/2/layout/IconVerticalSolidList"/>
    <dgm:cxn modelId="{3BA8E6C9-1A84-3048-9C22-08C59518D9D6}" type="presParOf" srcId="{9C125EC9-CB85-416C-8755-C0A1A67468A3}" destId="{84A2AF5B-42FD-422C-99C9-189EB2E76468}" srcOrd="3" destOrd="0" presId="urn:microsoft.com/office/officeart/2018/2/layout/IconVerticalSolidList"/>
    <dgm:cxn modelId="{54023F9E-30E3-3440-A918-3597257E4AE8}" type="presParOf" srcId="{F080DA07-85B1-4AA6-8613-C1C9FB0A1A70}" destId="{962E6326-782F-4435-A9A4-889AB971D772}" srcOrd="1" destOrd="0" presId="urn:microsoft.com/office/officeart/2018/2/layout/IconVerticalSolidList"/>
    <dgm:cxn modelId="{13B6B9F9-DDBB-D443-AC90-7B3E8CE40579}" type="presParOf" srcId="{F080DA07-85B1-4AA6-8613-C1C9FB0A1A70}" destId="{195D4864-FE0A-4E78-841A-A4AD81C6F2B5}" srcOrd="2" destOrd="0" presId="urn:microsoft.com/office/officeart/2018/2/layout/IconVerticalSolidList"/>
    <dgm:cxn modelId="{D34FAC69-9C21-3A49-B8D9-12AD0CBD8E24}" type="presParOf" srcId="{195D4864-FE0A-4E78-841A-A4AD81C6F2B5}" destId="{A12AF93E-2BD1-473F-82CC-4C2A5ABD3970}" srcOrd="0" destOrd="0" presId="urn:microsoft.com/office/officeart/2018/2/layout/IconVerticalSolidList"/>
    <dgm:cxn modelId="{EA4B17D5-15DB-BC47-AE6C-0AF9A5179A89}" type="presParOf" srcId="{195D4864-FE0A-4E78-841A-A4AD81C6F2B5}" destId="{9258D4B2-3FC1-4709-91EE-F4C5550B779C}" srcOrd="1" destOrd="0" presId="urn:microsoft.com/office/officeart/2018/2/layout/IconVerticalSolidList"/>
    <dgm:cxn modelId="{91A8CFF5-186A-704C-8914-6FE941CAE852}" type="presParOf" srcId="{195D4864-FE0A-4E78-841A-A4AD81C6F2B5}" destId="{B030F02E-BE3B-4781-B39B-746D189E7E0E}" srcOrd="2" destOrd="0" presId="urn:microsoft.com/office/officeart/2018/2/layout/IconVerticalSolidList"/>
    <dgm:cxn modelId="{6D451DE6-8D79-EB41-9BA9-43CE37099181}" type="presParOf" srcId="{195D4864-FE0A-4E78-841A-A4AD81C6F2B5}" destId="{70659759-01CC-4EAE-AF47-A1036164A55C}" srcOrd="3" destOrd="0" presId="urn:microsoft.com/office/officeart/2018/2/layout/IconVerticalSolidList"/>
    <dgm:cxn modelId="{8FE5592F-3A51-3B46-BA8B-60C378C9703A}" type="presParOf" srcId="{F080DA07-85B1-4AA6-8613-C1C9FB0A1A70}" destId="{A183BCAC-5D62-4F84-A963-C4B7A92A7C53}" srcOrd="3" destOrd="0" presId="urn:microsoft.com/office/officeart/2018/2/layout/IconVerticalSolidList"/>
    <dgm:cxn modelId="{E336889E-1ED6-504E-90D4-12A4A1277980}" type="presParOf" srcId="{F080DA07-85B1-4AA6-8613-C1C9FB0A1A70}" destId="{7A75108C-B199-4F56-8C23-AF4CDD169E3D}" srcOrd="4" destOrd="0" presId="urn:microsoft.com/office/officeart/2018/2/layout/IconVerticalSolidList"/>
    <dgm:cxn modelId="{64856576-F13D-864A-8440-76FD95F97DFC}" type="presParOf" srcId="{7A75108C-B199-4F56-8C23-AF4CDD169E3D}" destId="{890BABE8-5E1A-40CC-B9BA-8211FE311F12}" srcOrd="0" destOrd="0" presId="urn:microsoft.com/office/officeart/2018/2/layout/IconVerticalSolidList"/>
    <dgm:cxn modelId="{70DA14C4-7588-C04D-A563-71C91BF44521}" type="presParOf" srcId="{7A75108C-B199-4F56-8C23-AF4CDD169E3D}" destId="{2FEC9AA2-FF73-4DF2-82F4-534261C5B0C1}" srcOrd="1" destOrd="0" presId="urn:microsoft.com/office/officeart/2018/2/layout/IconVerticalSolidList"/>
    <dgm:cxn modelId="{71F1B8AB-C858-BF46-A197-66D6CE5C939F}" type="presParOf" srcId="{7A75108C-B199-4F56-8C23-AF4CDD169E3D}" destId="{F5D8724A-8678-4760-B6E5-D24B3DFBF6DE}" srcOrd="2" destOrd="0" presId="urn:microsoft.com/office/officeart/2018/2/layout/IconVerticalSolidList"/>
    <dgm:cxn modelId="{0AACF6CE-CB58-3044-8442-93CBDFECD2D8}" type="presParOf" srcId="{7A75108C-B199-4F56-8C23-AF4CDD169E3D}" destId="{1D9AF384-5746-4325-B1F7-A5E3E4DC50A4}" srcOrd="3" destOrd="0" presId="urn:microsoft.com/office/officeart/2018/2/layout/IconVerticalSolidList"/>
    <dgm:cxn modelId="{3840E7FD-D1D4-1543-B657-501909F5DB0B}" type="presParOf" srcId="{F080DA07-85B1-4AA6-8613-C1C9FB0A1A70}" destId="{53A95986-3DBF-40B3-9843-DE247DB6B114}" srcOrd="5" destOrd="0" presId="urn:microsoft.com/office/officeart/2018/2/layout/IconVerticalSolidList"/>
    <dgm:cxn modelId="{97856097-42E5-DE4E-84DD-D30C121642FA}" type="presParOf" srcId="{F080DA07-85B1-4AA6-8613-C1C9FB0A1A70}" destId="{02E59C62-F39E-4156-96B3-2D7E3DB89CA6}" srcOrd="6" destOrd="0" presId="urn:microsoft.com/office/officeart/2018/2/layout/IconVerticalSolidList"/>
    <dgm:cxn modelId="{CA3D59B9-E571-6443-9AB4-B483F142C99E}" type="presParOf" srcId="{02E59C62-F39E-4156-96B3-2D7E3DB89CA6}" destId="{7335EE2C-8F1B-4801-B1E3-A333593618CD}" srcOrd="0" destOrd="0" presId="urn:microsoft.com/office/officeart/2018/2/layout/IconVerticalSolidList"/>
    <dgm:cxn modelId="{92D0D749-BEBE-9A4D-BAA6-D009567FD42E}" type="presParOf" srcId="{02E59C62-F39E-4156-96B3-2D7E3DB89CA6}" destId="{056701A2-BB72-4974-A299-5F9BC32F587D}" srcOrd="1" destOrd="0" presId="urn:microsoft.com/office/officeart/2018/2/layout/IconVerticalSolidList"/>
    <dgm:cxn modelId="{7EC8D9FC-C278-324D-918F-921CD20B7758}" type="presParOf" srcId="{02E59C62-F39E-4156-96B3-2D7E3DB89CA6}" destId="{8147F145-5BA0-497E-831E-A26997A2509E}" srcOrd="2" destOrd="0" presId="urn:microsoft.com/office/officeart/2018/2/layout/IconVerticalSolidList"/>
    <dgm:cxn modelId="{DDF74A9A-307C-0340-BCE8-134B4B48A495}" type="presParOf" srcId="{02E59C62-F39E-4156-96B3-2D7E3DB89CA6}" destId="{BA61068E-633F-4443-B175-A2D98E476D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1EBAC-A023-4FE2-8907-D27C65D92F56}">
      <dsp:nvSpPr>
        <dsp:cNvPr id="0" name=""/>
        <dsp:cNvSpPr/>
      </dsp:nvSpPr>
      <dsp:spPr>
        <a:xfrm>
          <a:off x="0" y="1805"/>
          <a:ext cx="10111155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E25CF-94A6-45FF-B082-EF10CB65DDBF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2AF5B-42FD-422C-99C9-189EB2E76468}">
      <dsp:nvSpPr>
        <dsp:cNvPr id="0" name=""/>
        <dsp:cNvSpPr/>
      </dsp:nvSpPr>
      <dsp:spPr>
        <a:xfrm>
          <a:off x="1057183" y="1805"/>
          <a:ext cx="905397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 err="1"/>
            <a:t>We</a:t>
          </a:r>
          <a:r>
            <a:rPr lang="de-DE" sz="2200" kern="1200" dirty="0"/>
            <a:t> </a:t>
          </a:r>
          <a:r>
            <a:rPr lang="de-DE" sz="2200" kern="1200" dirty="0" err="1"/>
            <a:t>managed</a:t>
          </a:r>
          <a:r>
            <a:rPr lang="de-DE" sz="2200" kern="1200" dirty="0"/>
            <a:t> </a:t>
          </a:r>
          <a:r>
            <a:rPr lang="de-DE" sz="2200" kern="1200" dirty="0" err="1"/>
            <a:t>to</a:t>
          </a:r>
          <a:r>
            <a:rPr lang="de-DE" sz="2200" kern="1200" dirty="0"/>
            <a:t> </a:t>
          </a:r>
          <a:r>
            <a:rPr lang="de-DE" sz="2200" kern="1200" dirty="0" err="1"/>
            <a:t>adjust</a:t>
          </a:r>
          <a:r>
            <a:rPr lang="de-DE" sz="2200" kern="1200" dirty="0"/>
            <a:t> </a:t>
          </a:r>
          <a:r>
            <a:rPr lang="de-DE" sz="2200" kern="1200" dirty="0" err="1"/>
            <a:t>our</a:t>
          </a:r>
          <a:r>
            <a:rPr lang="de-DE" sz="2200" kern="1200" dirty="0"/>
            <a:t> </a:t>
          </a:r>
          <a:r>
            <a:rPr lang="de-DE" sz="2200" kern="1200" dirty="0" err="1"/>
            <a:t>model</a:t>
          </a:r>
          <a:r>
            <a:rPr lang="de-DE" sz="2200" kern="1200" dirty="0"/>
            <a:t> </a:t>
          </a:r>
          <a:r>
            <a:rPr lang="de-DE" sz="2200" kern="1200" dirty="0" err="1"/>
            <a:t>to</a:t>
          </a:r>
          <a:r>
            <a:rPr lang="de-DE" sz="2200" kern="1200" dirty="0"/>
            <a:t> </a:t>
          </a:r>
          <a:r>
            <a:rPr lang="de-DE" sz="2200" kern="1200" dirty="0" err="1"/>
            <a:t>reach</a:t>
          </a:r>
          <a:r>
            <a:rPr lang="de-DE" sz="2200" kern="1200" dirty="0"/>
            <a:t> a </a:t>
          </a:r>
          <a:r>
            <a:rPr lang="de-DE" sz="2200" kern="1200" dirty="0" err="1"/>
            <a:t>success</a:t>
          </a:r>
          <a:r>
            <a:rPr lang="de-DE" sz="2200" kern="1200" dirty="0"/>
            <a:t> rate </a:t>
          </a:r>
          <a:r>
            <a:rPr lang="de-DE" sz="2200" kern="1200" dirty="0" err="1"/>
            <a:t>of</a:t>
          </a:r>
          <a:r>
            <a:rPr lang="de-DE" sz="2200" kern="1200" dirty="0"/>
            <a:t> 94% </a:t>
          </a:r>
          <a:r>
            <a:rPr lang="de-DE" sz="2200" kern="1200" dirty="0" err="1"/>
            <a:t>with</a:t>
          </a:r>
          <a:r>
            <a:rPr lang="de-DE" sz="2200" kern="1200" dirty="0"/>
            <a:t> a </a:t>
          </a:r>
          <a:r>
            <a:rPr lang="de-DE" sz="2200" kern="1200" dirty="0" err="1"/>
            <a:t>start</a:t>
          </a:r>
          <a:r>
            <a:rPr lang="de-DE" sz="2200" kern="1200" dirty="0"/>
            <a:t> </a:t>
          </a:r>
          <a:r>
            <a:rPr lang="de-DE" sz="2200" kern="1200" dirty="0" err="1"/>
            <a:t>of</a:t>
          </a:r>
          <a:r>
            <a:rPr lang="de-DE" sz="2200" kern="1200" dirty="0"/>
            <a:t> 22%</a:t>
          </a:r>
          <a:endParaRPr lang="en-US" sz="2200" kern="1200" dirty="0"/>
        </a:p>
      </dsp:txBody>
      <dsp:txXfrm>
        <a:off x="1057183" y="1805"/>
        <a:ext cx="9053971" cy="915310"/>
      </dsp:txXfrm>
    </dsp:sp>
    <dsp:sp modelId="{A12AF93E-2BD1-473F-82CC-4C2A5ABD3970}">
      <dsp:nvSpPr>
        <dsp:cNvPr id="0" name=""/>
        <dsp:cNvSpPr/>
      </dsp:nvSpPr>
      <dsp:spPr>
        <a:xfrm>
          <a:off x="0" y="1145944"/>
          <a:ext cx="10111155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8D4B2-3FC1-4709-91EE-F4C5550B779C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59759-01CC-4EAE-AF47-A1036164A55C}">
      <dsp:nvSpPr>
        <dsp:cNvPr id="0" name=""/>
        <dsp:cNvSpPr/>
      </dsp:nvSpPr>
      <dsp:spPr>
        <a:xfrm>
          <a:off x="1057183" y="1145944"/>
          <a:ext cx="905397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Simple LangGraph-based multi-step reasoning is only working with additional enhancements </a:t>
          </a:r>
        </a:p>
      </dsp:txBody>
      <dsp:txXfrm>
        <a:off x="1057183" y="1145944"/>
        <a:ext cx="9053971" cy="915310"/>
      </dsp:txXfrm>
    </dsp:sp>
    <dsp:sp modelId="{890BABE8-5E1A-40CC-B9BA-8211FE311F12}">
      <dsp:nvSpPr>
        <dsp:cNvPr id="0" name=""/>
        <dsp:cNvSpPr/>
      </dsp:nvSpPr>
      <dsp:spPr>
        <a:xfrm>
          <a:off x="0" y="2290082"/>
          <a:ext cx="10111155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C9AA2-FF73-4DF2-82F4-534261C5B0C1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AF384-5746-4325-B1F7-A5E3E4DC50A4}">
      <dsp:nvSpPr>
        <dsp:cNvPr id="0" name=""/>
        <dsp:cNvSpPr/>
      </dsp:nvSpPr>
      <dsp:spPr>
        <a:xfrm>
          <a:off x="1057183" y="2290082"/>
          <a:ext cx="905397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The strongest impact was from describing the tables to the model and adjusting the model from llama to qwen</a:t>
          </a:r>
          <a:endParaRPr lang="en-US" sz="2200" kern="1200"/>
        </a:p>
      </dsp:txBody>
      <dsp:txXfrm>
        <a:off x="1057183" y="2290082"/>
        <a:ext cx="9053971" cy="915310"/>
      </dsp:txXfrm>
    </dsp:sp>
    <dsp:sp modelId="{7335EE2C-8F1B-4801-B1E3-A333593618CD}">
      <dsp:nvSpPr>
        <dsp:cNvPr id="0" name=""/>
        <dsp:cNvSpPr/>
      </dsp:nvSpPr>
      <dsp:spPr>
        <a:xfrm>
          <a:off x="0" y="3434221"/>
          <a:ext cx="10111155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701A2-BB72-4974-A299-5F9BC32F587D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1068E-633F-4443-B175-A2D98E476D33}">
      <dsp:nvSpPr>
        <dsp:cNvPr id="0" name=""/>
        <dsp:cNvSpPr/>
      </dsp:nvSpPr>
      <dsp:spPr>
        <a:xfrm>
          <a:off x="1057183" y="3434221"/>
          <a:ext cx="905397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Today is a good day to get 20/20 points ;) </a:t>
          </a:r>
          <a:r>
            <a:rPr lang="en-CH" sz="2200" b="0" i="0" kern="1200" dirty="0"/>
            <a:t>thanks for reviewing</a:t>
          </a:r>
          <a:endParaRPr lang="en-GB" sz="2200" i="0" kern="1200" dirty="0"/>
        </a:p>
      </dsp:txBody>
      <dsp:txXfrm>
        <a:off x="1057183" y="3434221"/>
        <a:ext cx="9053971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0988C-BBB2-3A42-8898-F774E2AA35B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E7357-186D-1741-AC65-6D5045F5A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876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0200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849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115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with</a:t>
            </a:r>
            <a:r>
              <a:rPr lang="de-DE" dirty="0"/>
              <a:t> Input, </a:t>
            </a:r>
            <a:r>
              <a:rPr lang="de-DE" dirty="0" err="1"/>
              <a:t>Generated</a:t>
            </a:r>
            <a:r>
              <a:rPr lang="de-DE" dirty="0"/>
              <a:t> SQL, and </a:t>
            </a:r>
            <a:r>
              <a:rPr lang="de-DE" dirty="0" err="1"/>
              <a:t>Result</a:t>
            </a:r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3867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379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002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2251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199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652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02E78-12AD-D096-14A6-705454B8E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CFE06E-E3E3-8190-557E-CA6B7D24A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007415-95C0-ADF6-BF1E-81623BBF3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D5C6CC-4C48-2059-91AE-C6419CFD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70D934-708A-02A1-FAA7-4E546C65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97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21727-6DA7-83C4-15B0-48D3BCDC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63CF11-D0D1-55FC-2A9E-E5B4239A3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32C427-EBA0-6588-26EC-6BD94A41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32EB2E-8904-68AC-4141-E4BBD33C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FD955A-76CB-D4D9-63C6-377A2D5D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576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65B1A-776A-CD5C-68FE-B2D4199F8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29B802-9DC2-5093-D132-E7B634E7B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170FC6-BDB1-7B9E-E17C-36C7445A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074DB6-9E82-74E1-53D2-A956497B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FADD12-AE26-C1C5-A31D-F3DAA492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18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59BD7E-C053-4E20-DA66-656FE9B6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C3E682-9953-9ED7-B4CA-22D5F47FB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608995-66BD-9D50-36F7-6CFB70764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6D4D49-8A13-5A9A-4CD8-93DBBEDD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B3445C-3CC1-BDD5-0DA0-32B8F1EB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06399B-0E26-6A52-7B7C-1CC84021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168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8B6F68-4F71-603F-457B-98C3A8F7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76066D-7899-E5C4-2CB7-9945FD450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7C4941-5768-5676-8B15-85612ABD6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BFF315-E76C-CD46-1447-98E09CD5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842010-3B32-8116-8464-409CA948E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7ACB152-2142-EB0C-8103-EDAA46C7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BB6191-181E-698D-3B9C-D5EDBD2D2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341113B-6E7A-2611-21F5-EA371FDB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613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56F0F3-4B25-A656-1DCA-3FE73636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21AE44-1F36-8220-2170-AC4741645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5932BF-812D-E078-F413-3B17A9F4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FCEE7E-D82C-D233-5A6A-31343701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86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A22DB1-A5B2-32F1-5FD1-A556BFA8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26E7BC-7B22-92CC-9CF5-AA111A50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CB4E85-29C9-87F9-F2C6-BCAC550B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0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78E88-4A5C-3873-0C4E-34651F2B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FD98EB-C24C-D7C0-1460-87A68DAC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76A193-4786-E291-7149-296E43566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77B1D6-4EA6-A61A-EDBD-1F0A77C94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EA85D8-73F7-2FCA-02EE-9A4805483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CC95DA-D206-7243-C69D-76F063E5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630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260FF-B9D4-4EAE-29F8-47BABA57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3BB75D9-2DA6-9796-2E81-33AE5FCCC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524F0E-307A-A8EC-B368-DA647E871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351943-B8E4-A7ED-6D76-2D7618EA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8E3C26-9995-7BEF-3636-701B85304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83E5F6-A2C3-4132-C3B0-08B78D2A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040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8DF37-EF77-20AE-8097-E74F2B06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A4F0F1-969E-38E6-9C27-A338BD1A7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6EC75B-8128-BA56-A88F-CC1A0B5C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7CEFAF-92AD-CB84-CBC9-BAE2141E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F54BD7-2D23-886A-4A0B-DE362C27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30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5BC8652-010B-0E25-A94B-C45295CB4B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2FEC3D-5D2F-26A9-9968-0D87A64FB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FD6412-EB7D-EA52-2E47-E9AFDCF01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88D222-CB05-8A0A-0E75-87DF0A8E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7531FB-9AEF-338C-CD48-6166517A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968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EDA4F35-E512-05BD-2964-E5522F65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21C280-CF64-82B7-7BEE-6CCEC6FD8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C22412-D82C-7321-B268-105184A82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D1D3F2-986D-2246-ACEA-731AA1390683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48DD2F-525D-A163-9586-035B9E9AC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6A82D5-4F04-DA4B-9DD0-4A46E1885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707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ithub.com/bjoern555/dwh2-text-to-sq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5D04CC0-71F4-60DD-5100-B281B6726F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881"/>
          <a:stretch>
            <a:fillRect/>
          </a:stretch>
        </p:blipFill>
        <p:spPr>
          <a:xfrm>
            <a:off x="0" y="-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98E9CB-4201-8229-9266-1C9FDAA22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CH" b="1" dirty="0"/>
              <a:t>Text-to-SQL with LLM and Agentic AI</a:t>
            </a:r>
            <a:br>
              <a:rPr lang="en-CH" b="1" dirty="0"/>
            </a:b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383FCC-0A2F-C626-64CE-15ECC5039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043"/>
            <a:ext cx="9144000" cy="1098395"/>
          </a:xfrm>
        </p:spPr>
        <p:txBody>
          <a:bodyPr>
            <a:normAutofit lnSpcReduction="10000"/>
          </a:bodyPr>
          <a:lstStyle/>
          <a:p>
            <a:br>
              <a:rPr lang="de-DE" sz="1700" dirty="0">
                <a:solidFill>
                  <a:srgbClr val="FFFFFF"/>
                </a:solidFill>
              </a:rPr>
            </a:br>
            <a:r>
              <a:rPr lang="de-DE" sz="1700" dirty="0">
                <a:solidFill>
                  <a:srgbClr val="FFFFFF"/>
                </a:solidFill>
              </a:rPr>
              <a:t>- Johnson Michal, Kryeziu Leona, Wagner Björn -</a:t>
            </a:r>
            <a:br>
              <a:rPr lang="de-DE" sz="1700" dirty="0">
                <a:solidFill>
                  <a:srgbClr val="FFFFFF"/>
                </a:solidFill>
              </a:rPr>
            </a:br>
            <a:endParaRPr lang="de-DE" sz="1700" dirty="0">
              <a:solidFill>
                <a:srgbClr val="FFFFFF"/>
              </a:solidFill>
            </a:endParaRPr>
          </a:p>
          <a:p>
            <a:r>
              <a:rPr lang="de-DE" sz="17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https://github.com/bjoern555/dwh2-text-to-sql</a:t>
            </a:r>
            <a:endParaRPr lang="de-DE" sz="1700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6AC864-0C12-848D-5F81-FA175F020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325" y="4999567"/>
            <a:ext cx="473077" cy="4730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E1C58A-F154-1008-11B4-06C58776F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600" y="4999567"/>
            <a:ext cx="473077" cy="47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4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896AB-2B98-91F9-E72E-889CB44D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3910"/>
          </a:xfrm>
        </p:spPr>
        <p:txBody>
          <a:bodyPr>
            <a:normAutofit/>
          </a:bodyPr>
          <a:lstStyle/>
          <a:p>
            <a:r>
              <a:rPr lang="de-DE" sz="4000" dirty="0"/>
              <a:t>Dataset Choice &amp; Rationale 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C1F74A9D-0266-366D-717F-903D76FDB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6380735"/>
              </p:ext>
            </p:extLst>
          </p:nvPr>
        </p:nvGraphicFramePr>
        <p:xfrm>
          <a:off x="838200" y="2110060"/>
          <a:ext cx="10515600" cy="2498562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58615560"/>
                    </a:ext>
                  </a:extLst>
                </a:gridCol>
                <a:gridCol w="2032686">
                  <a:extLst>
                    <a:ext uri="{9D8B030D-6E8A-4147-A177-3AD203B41FA5}">
                      <a16:colId xmlns:a16="http://schemas.microsoft.com/office/drawing/2014/main" val="3560744013"/>
                    </a:ext>
                  </a:extLst>
                </a:gridCol>
                <a:gridCol w="4977714">
                  <a:extLst>
                    <a:ext uri="{9D8B030D-6E8A-4147-A177-3AD203B41FA5}">
                      <a16:colId xmlns:a16="http://schemas.microsoft.com/office/drawing/2014/main" val="548822258"/>
                    </a:ext>
                  </a:extLst>
                </a:gridCol>
              </a:tblGrid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 err="1"/>
                        <a:t>Difficulty</a:t>
                      </a:r>
                      <a:endParaRPr lang="de-CH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/>
                        <a:t>Question 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151298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Easy 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779, 268, 297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696128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Medium 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/>
                        <a:t>89, 506, 708, 569, 861, 605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042848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Hard 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/>
                        <a:t>94, 155, 259, 426, 534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393235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Extra-Hard 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120, 284, 551, 591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172329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/>
                        <a:t>Total</a:t>
                      </a:r>
                      <a:endParaRPr lang="de-CH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/>
                        <a:t>18</a:t>
                      </a:r>
                      <a:endParaRPr lang="de-CH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/>
                        <a:t>9 🟢🟠  | 9 🔴🟣  =&gt; 50/50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55336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EA866D39-B20D-A32F-B5CC-151FEADA5123}"/>
              </a:ext>
            </a:extLst>
          </p:cNvPr>
          <p:cNvSpPr txBox="1"/>
          <p:nvPr/>
        </p:nvSpPr>
        <p:spPr>
          <a:xfrm>
            <a:off x="838200" y="4792468"/>
            <a:ext cx="54986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/>
              <a:t>Why </a:t>
            </a:r>
            <a:r>
              <a:rPr lang="de-CH" b="1" dirty="0" err="1"/>
              <a:t>FootballDB</a:t>
            </a:r>
            <a:r>
              <a:rPr lang="de-CH" b="1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Easy to spot-check predicted SQL against intuition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Query </a:t>
            </a:r>
            <a:r>
              <a:rPr lang="de-CH" dirty="0" err="1"/>
              <a:t>results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validated</a:t>
            </a:r>
            <a:r>
              <a:rPr lang="de-CH" dirty="0"/>
              <a:t> </a:t>
            </a:r>
            <a:r>
              <a:rPr lang="de-CH" dirty="0" err="1"/>
              <a:t>intuitively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need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study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database</a:t>
            </a:r>
            <a:r>
              <a:rPr lang="de-CH" dirty="0"/>
              <a:t> </a:t>
            </a:r>
            <a:r>
              <a:rPr lang="de-CH" dirty="0" err="1"/>
              <a:t>schema</a:t>
            </a:r>
            <a:r>
              <a:rPr lang="de-CH" dirty="0"/>
              <a:t> in </a:t>
            </a:r>
            <a:r>
              <a:rPr lang="de-CH" dirty="0" err="1"/>
              <a:t>depth</a:t>
            </a:r>
            <a:endParaRPr lang="de-C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C9814F-77AC-A1FB-82CC-CF47112E0167}"/>
              </a:ext>
            </a:extLst>
          </p:cNvPr>
          <p:cNvSpPr txBox="1"/>
          <p:nvPr/>
        </p:nvSpPr>
        <p:spPr>
          <a:xfrm>
            <a:off x="838200" y="1326049"/>
            <a:ext cx="9505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0" i="1" dirty="0">
                <a:solidFill>
                  <a:srgbClr val="FF0000"/>
                </a:solidFill>
                <a:effectLst/>
                <a:latin typeface="-apple-system"/>
              </a:rPr>
              <a:t>Questions drawn from </a:t>
            </a:r>
            <a:r>
              <a:rPr lang="en-CH" b="0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data/dev.json</a:t>
            </a:r>
            <a:r>
              <a:rPr lang="en-CH" b="0" i="1" dirty="0">
                <a:solidFill>
                  <a:srgbClr val="FF0000"/>
                </a:solidFill>
                <a:effectLst/>
                <a:latin typeface="-apple-system"/>
              </a:rPr>
              <a:t> (Spider/BIRD-style benchmark on the Football DB)</a:t>
            </a:r>
          </a:p>
          <a:p>
            <a:r>
              <a:rPr lang="de-CH" i="1" dirty="0">
                <a:solidFill>
                  <a:srgbClr val="FF0000"/>
                </a:solidFill>
              </a:rPr>
              <a:t>Test Set: 18 Questions (Easy 3 / Medium 6 / Hard 5 / Extra 4)</a:t>
            </a:r>
          </a:p>
          <a:p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6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A03E301-4070-86A9-0C6C-6E336A5E6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7213" y="365126"/>
            <a:ext cx="5865308" cy="6322741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8F12A3-D4B0-192E-EFDC-D76052B96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234"/>
            <a:ext cx="630773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CH" sz="1800" b="1" dirty="0"/>
              <a:t>LLM</a:t>
            </a:r>
            <a:endParaRPr lang="de-CH" sz="1800" dirty="0"/>
          </a:p>
          <a:p>
            <a:r>
              <a:rPr lang="de-CH" sz="1800" dirty="0" err="1"/>
              <a:t>Local</a:t>
            </a:r>
            <a:r>
              <a:rPr lang="de-CH" sz="1800" dirty="0"/>
              <a:t> </a:t>
            </a:r>
            <a:r>
              <a:rPr lang="de-CH" sz="1800" dirty="0" err="1"/>
              <a:t>Ollama</a:t>
            </a:r>
            <a:r>
              <a:rPr lang="de-CH" sz="1800" dirty="0"/>
              <a:t> </a:t>
            </a:r>
            <a:r>
              <a:rPr lang="de-CH" sz="1800" dirty="0" err="1"/>
              <a:t>with</a:t>
            </a:r>
            <a:r>
              <a:rPr lang="de-CH" sz="1800" dirty="0"/>
              <a:t> </a:t>
            </a:r>
            <a:r>
              <a:rPr lang="de-CH" sz="1800" i="1" dirty="0">
                <a:solidFill>
                  <a:srgbClr val="00B0F0"/>
                </a:solidFill>
              </a:rPr>
              <a:t>llama3.2:1b</a:t>
            </a:r>
            <a:r>
              <a:rPr lang="de-CH" sz="1800" dirty="0"/>
              <a:t> </a:t>
            </a:r>
            <a:r>
              <a:rPr lang="de-CH" sz="1800" b="1" dirty="0" err="1"/>
              <a:t>or</a:t>
            </a:r>
            <a:r>
              <a:rPr lang="de-CH" sz="1800" dirty="0"/>
              <a:t> </a:t>
            </a:r>
            <a:r>
              <a:rPr lang="de-CH" sz="1800" i="1" dirty="0">
                <a:solidFill>
                  <a:srgbClr val="00B0F0"/>
                </a:solidFill>
              </a:rPr>
              <a:t>qwen2.5-coder:14b </a:t>
            </a:r>
          </a:p>
          <a:p>
            <a:r>
              <a:rPr lang="de-CH" sz="1800" dirty="0" err="1"/>
              <a:t>Configurable</a:t>
            </a:r>
            <a:r>
              <a:rPr lang="de-CH" sz="1800" dirty="0"/>
              <a:t> via .</a:t>
            </a:r>
            <a:r>
              <a:rPr lang="de-CH" sz="1800" dirty="0" err="1"/>
              <a:t>env</a:t>
            </a:r>
            <a:r>
              <a:rPr lang="de-CH" sz="1800" dirty="0"/>
              <a:t>  (OLLAMA_MODEL)</a:t>
            </a:r>
          </a:p>
          <a:p>
            <a:pPr marL="0" indent="0">
              <a:buNone/>
            </a:pPr>
            <a:r>
              <a:rPr lang="de-CH" sz="1800" b="1" dirty="0"/>
              <a:t>Database</a:t>
            </a:r>
            <a:endParaRPr lang="de-CH" sz="1800" dirty="0"/>
          </a:p>
          <a:p>
            <a:r>
              <a:rPr lang="de-CH" sz="1800" dirty="0"/>
              <a:t>PostgreSQL, Schema exp_v3, </a:t>
            </a:r>
            <a:r>
              <a:rPr lang="de-CH" sz="1800" dirty="0" err="1"/>
              <a:t>hosted</a:t>
            </a:r>
            <a:r>
              <a:rPr lang="de-CH" sz="1800" dirty="0"/>
              <a:t> on ZHAW-Server</a:t>
            </a:r>
          </a:p>
          <a:p>
            <a:r>
              <a:rPr lang="de-CH" sz="1800" dirty="0"/>
              <a:t>Connection via </a:t>
            </a:r>
            <a:r>
              <a:rPr lang="de-CH" sz="1800" dirty="0" err="1"/>
              <a:t>LangChain</a:t>
            </a:r>
            <a:endParaRPr lang="de-CH" sz="1800" dirty="0"/>
          </a:p>
          <a:p>
            <a:pPr marL="0" indent="0">
              <a:buNone/>
            </a:pPr>
            <a:r>
              <a:rPr lang="de-CH" sz="1800" b="1" dirty="0"/>
              <a:t>Approach</a:t>
            </a:r>
          </a:p>
          <a:p>
            <a:r>
              <a:rPr lang="de-CH" sz="1800" dirty="0" err="1"/>
              <a:t>LangGraph-based</a:t>
            </a:r>
            <a:r>
              <a:rPr lang="de-CH" sz="1800" dirty="0"/>
              <a:t> multi-</a:t>
            </a:r>
            <a:r>
              <a:rPr lang="de-CH" sz="1800" dirty="0" err="1"/>
              <a:t>step</a:t>
            </a:r>
            <a:r>
              <a:rPr lang="de-CH" sz="1800" dirty="0"/>
              <a:t> </a:t>
            </a:r>
            <a:r>
              <a:rPr lang="de-CH" sz="1800" dirty="0" err="1"/>
              <a:t>reasoning</a:t>
            </a:r>
            <a:r>
              <a:rPr lang="de-CH" sz="1800" dirty="0"/>
              <a:t> </a:t>
            </a:r>
            <a:endParaRPr lang="de-CH" sz="1800" b="1" dirty="0"/>
          </a:p>
          <a:p>
            <a:pPr marL="0" indent="0">
              <a:buNone/>
            </a:pPr>
            <a:r>
              <a:rPr lang="de-CH" sz="1800" b="1" dirty="0"/>
              <a:t>Evaluation </a:t>
            </a:r>
            <a:r>
              <a:rPr lang="de-CH" sz="1800" b="1" dirty="0" err="1"/>
              <a:t>Metric</a:t>
            </a:r>
            <a:endParaRPr lang="de-CH" sz="1800" dirty="0"/>
          </a:p>
          <a:p>
            <a:r>
              <a:rPr lang="de-CH" sz="1800" dirty="0" err="1"/>
              <a:t>Execution</a:t>
            </a:r>
            <a:r>
              <a:rPr lang="de-CH" sz="1800" dirty="0"/>
              <a:t> </a:t>
            </a:r>
            <a:r>
              <a:rPr lang="de-CH" sz="1800" dirty="0" err="1"/>
              <a:t>Accuracy</a:t>
            </a:r>
            <a:r>
              <a:rPr lang="de-CH" sz="1800" dirty="0"/>
              <a:t>: </a:t>
            </a:r>
            <a:r>
              <a:rPr lang="de-CH" sz="1800" dirty="0" err="1"/>
              <a:t>Predicted</a:t>
            </a:r>
            <a:r>
              <a:rPr lang="de-CH" sz="1800" dirty="0"/>
              <a:t> </a:t>
            </a:r>
            <a:r>
              <a:rPr lang="de-CH" sz="1800" dirty="0" err="1"/>
              <a:t>result</a:t>
            </a:r>
            <a:r>
              <a:rPr lang="de-CH" sz="1800" dirty="0"/>
              <a:t> == Gold </a:t>
            </a:r>
            <a:r>
              <a:rPr lang="de-CH" sz="1800" dirty="0" err="1"/>
              <a:t>result</a:t>
            </a:r>
            <a:r>
              <a:rPr lang="de-CH" sz="1800" dirty="0"/>
              <a:t> </a:t>
            </a:r>
          </a:p>
          <a:p>
            <a:pPr marL="0" indent="0">
              <a:buNone/>
            </a:pPr>
            <a:r>
              <a:rPr lang="de-CH" sz="1800" dirty="0"/>
              <a:t>     (</a:t>
            </a:r>
            <a:r>
              <a:rPr lang="de-CH" sz="1800" dirty="0" err="1"/>
              <a:t>exact</a:t>
            </a:r>
            <a:r>
              <a:rPr lang="de-CH" sz="1800" dirty="0"/>
              <a:t> match)</a:t>
            </a:r>
            <a:br>
              <a:rPr lang="de-CH" sz="1800" dirty="0"/>
            </a:br>
            <a:endParaRPr lang="de-CH" sz="1800" dirty="0"/>
          </a:p>
          <a:p>
            <a:endParaRPr lang="de-DE" sz="18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36EB747-3FE4-42F9-17A2-1AB13782292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/>
              <a:t>System Architecture &amp; Setup </a:t>
            </a:r>
          </a:p>
        </p:txBody>
      </p:sp>
    </p:spTree>
    <p:extLst>
      <p:ext uri="{BB962C8B-B14F-4D97-AF65-F5344CB8AC3E}">
        <p14:creationId xmlns:p14="http://schemas.microsoft.com/office/powerpoint/2010/main" val="97002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DFFC567-5210-8362-4880-A3C20F552C2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/>
              <a:t>Query </a:t>
            </a:r>
            <a:r>
              <a:rPr lang="de-DE" sz="4000" dirty="0" err="1"/>
              <a:t>Examples</a:t>
            </a:r>
            <a:endParaRPr lang="de-DE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F727C-009A-1839-D957-57B7E8A40ABB}"/>
              </a:ext>
            </a:extLst>
          </p:cNvPr>
          <p:cNvSpPr txBox="1"/>
          <p:nvPr/>
        </p:nvSpPr>
        <p:spPr>
          <a:xfrm>
            <a:off x="1019502" y="1589266"/>
            <a:ext cx="103500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CH" sz="1200" b="0" i="1" dirty="0">
                <a:solidFill>
                  <a:schemeClr val="accent1"/>
                </a:solidFill>
                <a:effectLst/>
                <a:latin typeface="-apple-system"/>
              </a:rPr>
              <a:t>"Where was the world cup in 2018?"</a:t>
            </a:r>
          </a:p>
          <a:p>
            <a:pPr algn="l">
              <a:buNone/>
            </a:pPr>
            <a:r>
              <a:rPr lang="en-CH" sz="1200" b="0" i="0" dirty="0">
                <a:effectLst/>
                <a:latin typeface="-apple-system"/>
              </a:rPr>
              <a:t>Gold:  SELECT venue FROM world_cup WHERE year = 2018 </a:t>
            </a:r>
          </a:p>
          <a:p>
            <a:pPr algn="l">
              <a:buNone/>
            </a:pPr>
            <a:r>
              <a:rPr lang="en-CH" sz="1200" b="0" i="0" dirty="0">
                <a:effectLst/>
                <a:latin typeface="-apple-system"/>
              </a:rPr>
              <a:t>Pred: SELECT T1.venue FROM world_cup T1 INNER JOIN stadium T2 ON T1.venue = T2.city WHERE ...</a:t>
            </a:r>
          </a:p>
          <a:p>
            <a:pPr algn="l">
              <a:buNone/>
            </a:pPr>
            <a:endParaRPr lang="en-CH" sz="1200" b="0" i="0" dirty="0">
              <a:effectLst/>
              <a:latin typeface="-apple-system"/>
            </a:endParaRPr>
          </a:p>
          <a:p>
            <a:pPr algn="l">
              <a:buNone/>
            </a:pPr>
            <a:r>
              <a:rPr lang="en-CH" sz="1200" b="0" i="0" dirty="0">
                <a:effectLst/>
                <a:latin typeface="-apple-system"/>
              </a:rPr>
              <a:t>Gold result:  [('Russia',)]            Pred result: empty</a:t>
            </a:r>
          </a:p>
          <a:p>
            <a:pPr algn="l">
              <a:buNone/>
            </a:pPr>
            <a:r>
              <a:rPr lang="en-CH" sz="1200" b="0" i="0" dirty="0">
                <a:solidFill>
                  <a:srgbClr val="FF0000"/>
                </a:solidFill>
                <a:effectLst/>
                <a:latin typeface="-apple-system"/>
              </a:rPr>
              <a:t>Issue: Unnecessary join on stadium table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61D984C-6809-5095-0993-FC06F2B5E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39" t="14804" r="67307" b="81315"/>
          <a:stretch>
            <a:fillRect/>
          </a:stretch>
        </p:blipFill>
        <p:spPr>
          <a:xfrm>
            <a:off x="1019502" y="1272271"/>
            <a:ext cx="2301767" cy="27292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5C803E3-0538-B763-BD68-08B5E3FD3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06" t="39977" r="66504" b="55460"/>
          <a:stretch>
            <a:fillRect/>
          </a:stretch>
        </p:blipFill>
        <p:spPr>
          <a:xfrm>
            <a:off x="1019502" y="3001840"/>
            <a:ext cx="2343807" cy="3209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529C62-7985-76B6-B25C-D0C31F16F68A}"/>
              </a:ext>
            </a:extLst>
          </p:cNvPr>
          <p:cNvSpPr txBox="1"/>
          <p:nvPr/>
        </p:nvSpPr>
        <p:spPr>
          <a:xfrm>
            <a:off x="1019502" y="3375876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CH" sz="1200" i="1" dirty="0">
                <a:solidFill>
                  <a:schemeClr val="accent1"/>
                </a:solidFill>
                <a:latin typeface="-apple-system"/>
              </a:rPr>
              <a:t>"Show all national teams who have won more than 2 world cups"</a:t>
            </a:r>
          </a:p>
          <a:p>
            <a:r>
              <a:rPr lang="en-CH" sz="1200" dirty="0">
                <a:latin typeface="-apple-system"/>
              </a:rPr>
              <a:t>Gold: ... JOIN national_team T2 ... WHERE winner = 'true' GROUP BY teamname HAVING COUNT(year) &gt; 2 </a:t>
            </a:r>
          </a:p>
          <a:p>
            <a:r>
              <a:rPr lang="en-CH" sz="1200" dirty="0">
                <a:latin typeface="-apple-system"/>
              </a:rPr>
              <a:t>Pred: ... INNER JOIN world_cup_result T2 ... WHERE winner = 'TRUE' GROUP BY teamname HAVING ...</a:t>
            </a:r>
          </a:p>
          <a:p>
            <a:endParaRPr lang="en-CH" sz="1200" dirty="0">
              <a:latin typeface="-apple-system"/>
            </a:endParaRPr>
          </a:p>
          <a:p>
            <a:r>
              <a:rPr lang="en-CH" sz="1200" dirty="0">
                <a:latin typeface="-apple-system"/>
              </a:rPr>
              <a:t>Both results: [Argentina, Italy, Brazil, Germany]</a:t>
            </a:r>
          </a:p>
          <a:p>
            <a:pPr algn="l">
              <a:buNone/>
            </a:pPr>
            <a:r>
              <a:rPr lang="en-CH" sz="1200" dirty="0">
                <a:solidFill>
                  <a:srgbClr val="1B9E75"/>
                </a:solidFill>
                <a:latin typeface="-apple-system"/>
              </a:rPr>
              <a:t>Note: Different formulation, identical result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88F482E-1BEE-B85E-071B-D5207045F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39" t="65467" r="67307" b="31021"/>
          <a:stretch>
            <a:fillRect/>
          </a:stretch>
        </p:blipFill>
        <p:spPr>
          <a:xfrm>
            <a:off x="1019502" y="4702853"/>
            <a:ext cx="2301766" cy="2469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A633FA-BEB9-97D2-8196-A4476208B030}"/>
              </a:ext>
            </a:extLst>
          </p:cNvPr>
          <p:cNvSpPr txBox="1"/>
          <p:nvPr/>
        </p:nvSpPr>
        <p:spPr>
          <a:xfrm>
            <a:off x="1019502" y="5076495"/>
            <a:ext cx="12061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200" i="1" dirty="0">
                <a:solidFill>
                  <a:schemeClr val="accent1"/>
                </a:solidFill>
                <a:latin typeface="-apple-system"/>
              </a:rPr>
              <a:t>"Which players played for Switzerland in 2014? Return the names of the players"</a:t>
            </a:r>
          </a:p>
          <a:p>
            <a:pPr>
              <a:buNone/>
            </a:pPr>
            <a:r>
              <a:rPr lang="en-CH" sz="1200" dirty="0">
                <a:latin typeface="-apple-system"/>
              </a:rPr>
              <a:t>Gold: ... JOIN player_fact ... JOIN national_team ... WHERE teamname = 'Switzerland' AND year = 2014 </a:t>
            </a:r>
          </a:p>
          <a:p>
            <a:pPr>
              <a:buNone/>
            </a:pPr>
            <a:r>
              <a:rPr lang="en-CH" sz="1200" dirty="0">
                <a:latin typeface="-apple-system"/>
              </a:rPr>
              <a:t>Pred: ... JOIN player_club_team T2 ... WHERE T2.club_id = 'Q2701659' AND T1.country = 'Switzerland' ...</a:t>
            </a:r>
          </a:p>
          <a:p>
            <a:pPr>
              <a:buNone/>
            </a:pPr>
            <a:endParaRPr lang="en-CH" sz="1200" dirty="0">
              <a:latin typeface="-apple-system"/>
            </a:endParaRPr>
          </a:p>
          <a:p>
            <a:pPr>
              <a:buNone/>
            </a:pPr>
            <a:r>
              <a:rPr lang="en-CH" sz="1200" dirty="0">
                <a:latin typeface="-apple-system"/>
              </a:rPr>
              <a:t>Gold result: 23 players · Pred result: SQL error</a:t>
            </a:r>
          </a:p>
          <a:p>
            <a:pPr algn="l">
              <a:buNone/>
            </a:pPr>
            <a:r>
              <a:rPr lang="en-CH" sz="1200" dirty="0">
                <a:solidFill>
                  <a:srgbClr val="FF0000"/>
                </a:solidFill>
                <a:latin typeface="-apple-system"/>
              </a:rPr>
              <a:t>Issue: Hallucinated column player.country</a:t>
            </a:r>
          </a:p>
        </p:txBody>
      </p:sp>
    </p:spTree>
    <p:extLst>
      <p:ext uri="{BB962C8B-B14F-4D97-AF65-F5344CB8AC3E}">
        <p14:creationId xmlns:p14="http://schemas.microsoft.com/office/powerpoint/2010/main" val="74594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48C804D-1D92-8743-183B-2C02ED152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5636" r="51654" b="39241"/>
          <a:stretch>
            <a:fillRect/>
          </a:stretch>
        </p:blipFill>
        <p:spPr>
          <a:xfrm>
            <a:off x="3196392" y="3505941"/>
            <a:ext cx="3944637" cy="1414801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00A15A76-03CC-A643-3E2F-0BE78D8ED2F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 err="1"/>
              <a:t>Execution</a:t>
            </a:r>
            <a:r>
              <a:rPr lang="de-DE" sz="4000" dirty="0"/>
              <a:t> </a:t>
            </a:r>
            <a:r>
              <a:rPr lang="de-DE" sz="4000" dirty="0" err="1"/>
              <a:t>Accuracy</a:t>
            </a:r>
            <a:r>
              <a:rPr lang="de-DE" sz="4000" dirty="0"/>
              <a:t> </a:t>
            </a:r>
            <a:r>
              <a:rPr lang="de-DE" sz="4000" dirty="0" err="1"/>
              <a:t>Results</a:t>
            </a:r>
            <a:r>
              <a:rPr lang="de-DE" sz="40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0C9F52-4AC4-52D8-393E-77770B642438}"/>
              </a:ext>
            </a:extLst>
          </p:cNvPr>
          <p:cNvSpPr txBox="1"/>
          <p:nvPr/>
        </p:nvSpPr>
        <p:spPr>
          <a:xfrm>
            <a:off x="838200" y="1486035"/>
            <a:ext cx="1109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i="1" dirty="0">
                <a:solidFill>
                  <a:srgbClr val="FF0000"/>
                </a:solidFill>
                <a:latin typeface="-apple-system"/>
              </a:rPr>
              <a:t>First baseline run. Weak overall, but a starting point we improve on later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768A5-B033-D5F8-600C-A6FB04459D88}"/>
              </a:ext>
            </a:extLst>
          </p:cNvPr>
          <p:cNvSpPr txBox="1"/>
          <p:nvPr/>
        </p:nvSpPr>
        <p:spPr>
          <a:xfrm>
            <a:off x="838200" y="5206156"/>
            <a:ext cx="9401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0" dirty="0">
                <a:effectLst/>
                <a:latin typeface="-apple-system"/>
              </a:rPr>
              <a:t>The model handles trivial lookups but collapses on anything requiring joins or multi-step reasoning (0/4 on extra-hard</a:t>
            </a:r>
            <a:r>
              <a:rPr lang="en-CH" dirty="0">
                <a:latin typeface="-apple-system"/>
              </a:rPr>
              <a:t>)</a:t>
            </a:r>
            <a:endParaRPr lang="en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17D808-522D-46AA-484A-21F3BE42FFDE}"/>
              </a:ext>
            </a:extLst>
          </p:cNvPr>
          <p:cNvSpPr txBox="1"/>
          <p:nvPr/>
        </p:nvSpPr>
        <p:spPr>
          <a:xfrm>
            <a:off x="796579" y="1987885"/>
            <a:ext cx="494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Accuracy: 22.2 % with </a:t>
            </a:r>
            <a:r>
              <a:rPr lang="en-CH" dirty="0">
                <a:solidFill>
                  <a:srgbClr val="00B0F0"/>
                </a:solidFill>
              </a:rPr>
              <a:t>the llama3.2:1b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015E34-5CB5-47F0-5531-8779501176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689" t="14444" r="10370" b="62540"/>
          <a:stretch>
            <a:fillRect/>
          </a:stretch>
        </p:blipFill>
        <p:spPr>
          <a:xfrm>
            <a:off x="1945278" y="2339002"/>
            <a:ext cx="7187532" cy="101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8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35FEAA-D7AE-AD4D-00B7-CABF44CE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6475"/>
            <a:ext cx="10515600" cy="2869943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de-CH" sz="1800" dirty="0"/>
              <a:t>The </a:t>
            </a:r>
            <a:r>
              <a:rPr lang="de-CH" sz="1800" i="1" dirty="0">
                <a:solidFill>
                  <a:srgbClr val="00B0F0"/>
                </a:solidFill>
              </a:rPr>
              <a:t>llama3.2:1b</a:t>
            </a:r>
            <a:r>
              <a:rPr lang="de-CH" sz="1800" dirty="0"/>
              <a:t> </a:t>
            </a:r>
            <a:r>
              <a:rPr lang="de-CH" sz="1800" i="1" dirty="0" err="1">
                <a:solidFill>
                  <a:srgbClr val="00B0F0"/>
                </a:solidFill>
              </a:rPr>
              <a:t>model</a:t>
            </a:r>
            <a:r>
              <a:rPr lang="de-CH" sz="1800" dirty="0"/>
              <a:t> </a:t>
            </a:r>
            <a:r>
              <a:rPr lang="de-CH" sz="1800" dirty="0" err="1"/>
              <a:t>fails</a:t>
            </a:r>
            <a:r>
              <a:rPr lang="de-CH" sz="1800" dirty="0"/>
              <a:t> </a:t>
            </a:r>
            <a:r>
              <a:rPr lang="de-CH" sz="1800" dirty="0" err="1"/>
              <a:t>almost</a:t>
            </a:r>
            <a:r>
              <a:rPr lang="de-CH" sz="1800" dirty="0"/>
              <a:t> </a:t>
            </a:r>
            <a:r>
              <a:rPr lang="de-CH" sz="1800" dirty="0" err="1"/>
              <a:t>entirely</a:t>
            </a:r>
            <a:r>
              <a:rPr lang="de-CH" sz="1800" dirty="0"/>
              <a:t> at </a:t>
            </a:r>
            <a:r>
              <a:rPr lang="de-CH" sz="1800" dirty="0" err="1"/>
              <a:t>the</a:t>
            </a:r>
            <a:r>
              <a:rPr lang="de-CH" sz="1800" dirty="0"/>
              <a:t> </a:t>
            </a:r>
            <a:r>
              <a:rPr lang="de-CH" sz="1800" dirty="0" err="1"/>
              <a:t>schema</a:t>
            </a:r>
            <a:r>
              <a:rPr lang="de-CH" sz="1800" dirty="0"/>
              <a:t> </a:t>
            </a:r>
            <a:r>
              <a:rPr lang="de-CH" sz="1800" dirty="0" err="1"/>
              <a:t>level</a:t>
            </a:r>
            <a:r>
              <a:rPr lang="de-CH" sz="1800" dirty="0"/>
              <a:t>, </a:t>
            </a:r>
            <a:r>
              <a:rPr lang="de-CH" sz="1800" dirty="0" err="1">
                <a:solidFill>
                  <a:srgbClr val="FF0000"/>
                </a:solidFill>
              </a:rPr>
              <a:t>wrong</a:t>
            </a:r>
            <a:r>
              <a:rPr lang="de-CH" sz="1800" dirty="0">
                <a:solidFill>
                  <a:srgbClr val="FF0000"/>
                </a:solidFill>
              </a:rPr>
              <a:t> </a:t>
            </a:r>
            <a:r>
              <a:rPr lang="de-CH" sz="1800" dirty="0" err="1">
                <a:solidFill>
                  <a:srgbClr val="FF0000"/>
                </a:solidFill>
              </a:rPr>
              <a:t>joins</a:t>
            </a:r>
            <a:r>
              <a:rPr lang="de-CH" sz="1800" dirty="0">
                <a:solidFill>
                  <a:srgbClr val="FF0000"/>
                </a:solidFill>
              </a:rPr>
              <a:t> </a:t>
            </a:r>
            <a:r>
              <a:rPr lang="de-CH" sz="1800" dirty="0"/>
              <a:t>and </a:t>
            </a:r>
            <a:r>
              <a:rPr lang="de-CH" sz="1800" dirty="0" err="1">
                <a:solidFill>
                  <a:srgbClr val="FF0000"/>
                </a:solidFill>
              </a:rPr>
              <a:t>hallucinated</a:t>
            </a:r>
            <a:r>
              <a:rPr lang="de-CH" sz="1800" dirty="0">
                <a:solidFill>
                  <a:srgbClr val="FF0000"/>
                </a:solidFill>
              </a:rPr>
              <a:t> </a:t>
            </a:r>
            <a:r>
              <a:rPr lang="de-CH" sz="1800" dirty="0" err="1">
                <a:solidFill>
                  <a:srgbClr val="FF0000"/>
                </a:solidFill>
              </a:rPr>
              <a:t>columns</a:t>
            </a:r>
            <a:endParaRPr lang="de-CH" sz="180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9FD61F9-971B-17DF-98CB-B996CC2753D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/>
              <a:t> Analysis </a:t>
            </a:r>
            <a:r>
              <a:rPr lang="de-DE" sz="4000" dirty="0" err="1"/>
              <a:t>of</a:t>
            </a:r>
            <a:r>
              <a:rPr lang="de-DE" sz="4000" dirty="0"/>
              <a:t> Errors  &amp; Model </a:t>
            </a:r>
            <a:r>
              <a:rPr lang="de-DE" sz="4000" dirty="0" err="1"/>
              <a:t>Limitations</a:t>
            </a:r>
            <a:r>
              <a:rPr lang="de-DE" sz="4000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38BCAF-40A7-EFC1-87FB-68CA637F3E5C}"/>
              </a:ext>
            </a:extLst>
          </p:cNvPr>
          <p:cNvGrpSpPr/>
          <p:nvPr/>
        </p:nvGrpSpPr>
        <p:grpSpPr>
          <a:xfrm>
            <a:off x="984166" y="2244080"/>
            <a:ext cx="10223668" cy="2523282"/>
            <a:chOff x="938031" y="2788875"/>
            <a:chExt cx="10223668" cy="2523282"/>
          </a:xfrm>
        </p:grpSpPr>
        <p:pic>
          <p:nvPicPr>
            <p:cNvPr id="2" name="Inhaltsplatzhalter 4">
              <a:extLst>
                <a:ext uri="{FF2B5EF4-FFF2-40B4-BE49-F238E27FC236}">
                  <a16:creationId xmlns:a16="http://schemas.microsoft.com/office/drawing/2014/main" id="{791D9141-E47B-2429-58B6-D2739F39D8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1424" t="29053" r="3372" b="36626"/>
            <a:stretch>
              <a:fillRect/>
            </a:stretch>
          </p:blipFill>
          <p:spPr>
            <a:xfrm>
              <a:off x="938031" y="2788875"/>
              <a:ext cx="4815070" cy="252328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3E0D53-E3A7-EB22-0C4F-5B65CB3A4160}"/>
                </a:ext>
              </a:extLst>
            </p:cNvPr>
            <p:cNvSpPr txBox="1"/>
            <p:nvPr/>
          </p:nvSpPr>
          <p:spPr>
            <a:xfrm>
              <a:off x="6631484" y="3470890"/>
              <a:ext cx="4530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i="1" dirty="0">
                  <a:solidFill>
                    <a:srgbClr val="FF0000"/>
                  </a:solidFill>
                </a:rPr>
                <a:t>This indicates that we need a TABLE_GUIDE </a:t>
              </a: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A63793AE-58F4-4D9C-37A1-89F8719D2A58}"/>
                </a:ext>
              </a:extLst>
            </p:cNvPr>
            <p:cNvSpPr/>
            <p:nvPr/>
          </p:nvSpPr>
          <p:spPr>
            <a:xfrm>
              <a:off x="5852932" y="3260596"/>
              <a:ext cx="586451" cy="789920"/>
            </a:xfrm>
            <a:prstGeom prst="rightBrac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12CB8A9-FCAE-56A3-9407-469C70F4E13E}"/>
              </a:ext>
            </a:extLst>
          </p:cNvPr>
          <p:cNvSpPr txBox="1"/>
          <p:nvPr/>
        </p:nvSpPr>
        <p:spPr>
          <a:xfrm>
            <a:off x="838200" y="4744691"/>
            <a:ext cx="10137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This tells us that </a:t>
            </a:r>
            <a:r>
              <a:rPr lang="de-CH" i="1" dirty="0">
                <a:solidFill>
                  <a:srgbClr val="00B0F0"/>
                </a:solidFill>
              </a:rPr>
              <a:t>llama3.2:1b</a:t>
            </a:r>
            <a:r>
              <a:rPr lang="de-CH" dirty="0"/>
              <a:t> </a:t>
            </a:r>
            <a:r>
              <a:rPr lang="de-CH" i="1" dirty="0" err="1"/>
              <a:t>is</a:t>
            </a:r>
            <a:r>
              <a:rPr lang="de-CH" i="1" dirty="0"/>
              <a:t> </a:t>
            </a:r>
            <a:r>
              <a:rPr lang="de-CH" i="1" dirty="0" err="1"/>
              <a:t>too</a:t>
            </a:r>
            <a:r>
              <a:rPr lang="de-CH" i="1" dirty="0"/>
              <a:t> </a:t>
            </a:r>
            <a:r>
              <a:rPr lang="de-CH" i="1" dirty="0" err="1"/>
              <a:t>weak</a:t>
            </a:r>
            <a:r>
              <a:rPr lang="de-CH" i="1" dirty="0"/>
              <a:t> and </a:t>
            </a:r>
            <a:r>
              <a:rPr lang="de-CH" i="1" dirty="0" err="1"/>
              <a:t>thus</a:t>
            </a:r>
            <a:r>
              <a:rPr lang="de-CH" i="1" dirty="0"/>
              <a:t> </a:t>
            </a:r>
            <a:r>
              <a:rPr lang="de-CH" i="1" dirty="0" err="1"/>
              <a:t>we</a:t>
            </a:r>
            <a:r>
              <a:rPr lang="de-CH" i="1" dirty="0"/>
              <a:t> </a:t>
            </a:r>
            <a:r>
              <a:rPr lang="de-CH" i="1" dirty="0" err="1"/>
              <a:t>need</a:t>
            </a:r>
            <a:r>
              <a:rPr lang="de-CH" i="1" dirty="0"/>
              <a:t> a </a:t>
            </a:r>
            <a:r>
              <a:rPr lang="de-CH" i="1" dirty="0" err="1"/>
              <a:t>better</a:t>
            </a:r>
            <a:r>
              <a:rPr lang="de-CH" i="1" dirty="0"/>
              <a:t> </a:t>
            </a:r>
            <a:r>
              <a:rPr lang="de-CH" i="1" dirty="0" err="1"/>
              <a:t>model</a:t>
            </a:r>
            <a:r>
              <a:rPr lang="de-CH" i="1" dirty="0"/>
              <a:t> </a:t>
            </a:r>
            <a:r>
              <a:rPr lang="de-CH" i="1" dirty="0" err="1"/>
              <a:t>that</a:t>
            </a:r>
            <a:r>
              <a:rPr lang="de-CH" i="1" dirty="0"/>
              <a:t> </a:t>
            </a:r>
            <a:r>
              <a:rPr lang="de-CH" i="1" dirty="0" err="1"/>
              <a:t>doesn’t</a:t>
            </a:r>
            <a:r>
              <a:rPr lang="de-CH" i="1" dirty="0"/>
              <a:t> </a:t>
            </a:r>
            <a:r>
              <a:rPr lang="de-CH" i="1" dirty="0" err="1"/>
              <a:t>hallucinate</a:t>
            </a:r>
            <a:endParaRPr lang="de-CH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74F6D1-4C77-F5C6-3A64-8E549B4B4833}"/>
              </a:ext>
            </a:extLst>
          </p:cNvPr>
          <p:cNvSpPr txBox="1"/>
          <p:nvPr/>
        </p:nvSpPr>
        <p:spPr>
          <a:xfrm>
            <a:off x="838200" y="5401078"/>
            <a:ext cx="5295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 In-</a:t>
            </a:r>
            <a:r>
              <a:rPr lang="de-CH" dirty="0" err="1"/>
              <a:t>context</a:t>
            </a:r>
            <a:r>
              <a:rPr lang="de-CH" dirty="0"/>
              <a:t> </a:t>
            </a:r>
            <a:r>
              <a:rPr lang="de-CH" dirty="0" err="1"/>
              <a:t>learning</a:t>
            </a:r>
            <a:r>
              <a:rPr lang="de-CH" dirty="0"/>
              <a:t> / </a:t>
            </a:r>
            <a:r>
              <a:rPr lang="de-CH" dirty="0" err="1"/>
              <a:t>few-shot</a:t>
            </a:r>
            <a:r>
              <a:rPr lang="de-CH" dirty="0"/>
              <a:t> </a:t>
            </a:r>
            <a:r>
              <a:rPr lang="de-CH" dirty="0" err="1"/>
              <a:t>examples</a:t>
            </a:r>
            <a:r>
              <a:rPr lang="de-CH" dirty="0"/>
              <a:t> </a:t>
            </a:r>
            <a:r>
              <a:rPr lang="de-CH" b="1" dirty="0" err="1"/>
              <a:t>did</a:t>
            </a:r>
            <a:r>
              <a:rPr lang="de-CH" dirty="0"/>
              <a:t> </a:t>
            </a:r>
            <a:r>
              <a:rPr lang="de-CH" dirty="0" err="1"/>
              <a:t>help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63088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DA8926-E4BE-2100-50E3-ABDCEE838189}"/>
              </a:ext>
            </a:extLst>
          </p:cNvPr>
          <p:cNvSpPr txBox="1"/>
          <p:nvPr/>
        </p:nvSpPr>
        <p:spPr>
          <a:xfrm>
            <a:off x="838200" y="1249319"/>
            <a:ext cx="7034013" cy="301552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CH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9C091D1-3E00-6659-7EB0-35A25B7CD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769" b="28557"/>
          <a:stretch>
            <a:fillRect/>
          </a:stretch>
        </p:blipFill>
        <p:spPr>
          <a:xfrm>
            <a:off x="1570357" y="1378548"/>
            <a:ext cx="6554235" cy="2757061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4CC9FDCF-71D8-6A0F-4204-03476619D79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Optional Techniques Implemented</a:t>
            </a:r>
            <a:endParaRPr lang="de-DE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C61B0-EF56-45D5-2DBA-6B313520AE97}"/>
              </a:ext>
            </a:extLst>
          </p:cNvPr>
          <p:cNvSpPr txBox="1"/>
          <p:nvPr/>
        </p:nvSpPr>
        <p:spPr>
          <a:xfrm rot="16200000">
            <a:off x="49614" y="2572412"/>
            <a:ext cx="223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Execution</a:t>
            </a:r>
            <a:r>
              <a:rPr lang="de-DE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de-DE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Accuracy</a:t>
            </a:r>
            <a:endParaRPr lang="en-CH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7EC6DD-CBC4-6638-D0DC-F139C23C57CD}"/>
              </a:ext>
            </a:extLst>
          </p:cNvPr>
          <p:cNvSpPr txBox="1"/>
          <p:nvPr/>
        </p:nvSpPr>
        <p:spPr>
          <a:xfrm>
            <a:off x="751652" y="4541550"/>
            <a:ext cx="6092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The  biggest win was adding the TABLE_GUIDE to the LLM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E0B3D-6093-1B3A-38A1-D5EE1281899C}"/>
              </a:ext>
            </a:extLst>
          </p:cNvPr>
          <p:cNvSpPr txBox="1"/>
          <p:nvPr/>
        </p:nvSpPr>
        <p:spPr>
          <a:xfrm>
            <a:off x="751652" y="4910593"/>
            <a:ext cx="785913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In </a:t>
            </a:r>
            <a:r>
              <a:rPr lang="de-CH" dirty="0" err="1"/>
              <a:t>combination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a </a:t>
            </a:r>
            <a:r>
              <a:rPr lang="de-CH" dirty="0" err="1"/>
              <a:t>stronger</a:t>
            </a:r>
            <a:r>
              <a:rPr lang="de-CH" dirty="0"/>
              <a:t> </a:t>
            </a:r>
            <a:r>
              <a:rPr lang="de-CH" dirty="0" err="1"/>
              <a:t>model</a:t>
            </a:r>
            <a:r>
              <a:rPr lang="de-CH" dirty="0"/>
              <a:t>,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resulted</a:t>
            </a:r>
            <a:r>
              <a:rPr lang="de-CH" dirty="0"/>
              <a:t> in an </a:t>
            </a:r>
            <a:r>
              <a:rPr lang="de-CH" dirty="0" err="1"/>
              <a:t>accuracy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>
                <a:solidFill>
                  <a:srgbClr val="1B9E75"/>
                </a:solidFill>
              </a:rPr>
              <a:t>72.2%</a:t>
            </a:r>
            <a:endParaRPr lang="en-CH" dirty="0">
              <a:solidFill>
                <a:srgbClr val="1B9E7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592E40-06B5-52F8-DB73-E26CC224566F}"/>
              </a:ext>
            </a:extLst>
          </p:cNvPr>
          <p:cNvSpPr txBox="1"/>
          <p:nvPr/>
        </p:nvSpPr>
        <p:spPr>
          <a:xfrm>
            <a:off x="751652" y="5279636"/>
            <a:ext cx="9166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Adding</a:t>
            </a:r>
            <a:r>
              <a:rPr lang="de-CH" dirty="0"/>
              <a:t> </a:t>
            </a:r>
            <a:r>
              <a:rPr lang="de-CH" dirty="0" err="1"/>
              <a:t>few-shot</a:t>
            </a:r>
            <a:r>
              <a:rPr lang="de-CH" dirty="0"/>
              <a:t> </a:t>
            </a:r>
            <a:r>
              <a:rPr lang="de-CH" dirty="0" err="1"/>
              <a:t>examples</a:t>
            </a:r>
            <a:r>
              <a:rPr lang="de-CH" dirty="0"/>
              <a:t> </a:t>
            </a:r>
            <a:r>
              <a:rPr lang="de-CH" dirty="0" err="1"/>
              <a:t>helped</a:t>
            </a:r>
            <a:r>
              <a:rPr lang="de-CH" dirty="0"/>
              <a:t> but </a:t>
            </a:r>
            <a:r>
              <a:rPr lang="en-CH" dirty="0"/>
              <a:t>introduced the risk of overfitting</a:t>
            </a:r>
            <a:r>
              <a:rPr lang="de-CH" dirty="0"/>
              <a:t> on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training</a:t>
            </a:r>
            <a:r>
              <a:rPr lang="de-CH" dirty="0"/>
              <a:t> </a:t>
            </a:r>
            <a:r>
              <a:rPr lang="de-CH" dirty="0" err="1"/>
              <a:t>set</a:t>
            </a:r>
            <a:endParaRPr lang="en-C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FE5FAE-B418-6828-5F1A-F659C42E0C78}"/>
              </a:ext>
            </a:extLst>
          </p:cNvPr>
          <p:cNvSpPr txBox="1"/>
          <p:nvPr/>
        </p:nvSpPr>
        <p:spPr>
          <a:xfrm>
            <a:off x="762896" y="5648390"/>
            <a:ext cx="10355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At </a:t>
            </a:r>
            <a:r>
              <a:rPr lang="de-CH" dirty="0" err="1"/>
              <a:t>the</a:t>
            </a:r>
            <a:r>
              <a:rPr lang="de-CH" dirty="0"/>
              <a:t> end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achieved</a:t>
            </a:r>
            <a:r>
              <a:rPr lang="de-CH" dirty="0"/>
              <a:t> a </a:t>
            </a:r>
            <a:r>
              <a:rPr lang="de-CH" dirty="0" err="1"/>
              <a:t>success</a:t>
            </a:r>
            <a:r>
              <a:rPr lang="de-CH" dirty="0"/>
              <a:t> rate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>
                <a:solidFill>
                  <a:srgbClr val="106E55"/>
                </a:solidFill>
              </a:rPr>
              <a:t>94.4%</a:t>
            </a:r>
            <a:r>
              <a:rPr lang="de-CH" dirty="0"/>
              <a:t>, </a:t>
            </a:r>
            <a:r>
              <a:rPr lang="en-CH" dirty="0"/>
              <a:t>the single remaining error was just one extra column in the SELECT</a:t>
            </a:r>
          </a:p>
        </p:txBody>
      </p:sp>
    </p:spTree>
    <p:extLst>
      <p:ext uri="{BB962C8B-B14F-4D97-AF65-F5344CB8AC3E}">
        <p14:creationId xmlns:p14="http://schemas.microsoft.com/office/powerpoint/2010/main" val="288860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Inhaltsplatzhalter 2">
            <a:extLst>
              <a:ext uri="{FF2B5EF4-FFF2-40B4-BE49-F238E27FC236}">
                <a16:creationId xmlns:a16="http://schemas.microsoft.com/office/drawing/2014/main" id="{3C23C2AE-725F-7B55-471D-EEA04DB0F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0279054"/>
              </p:ext>
            </p:extLst>
          </p:nvPr>
        </p:nvGraphicFramePr>
        <p:xfrm>
          <a:off x="838200" y="1570831"/>
          <a:ext cx="1011115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D1557C82-2D46-B202-01B1-1D50F349B39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/>
              <a:t>Conclusion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408672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D7C27D7-D5D1-FDDB-6955-382DE9364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7201" b="69226"/>
          <a:stretch>
            <a:fillRect/>
          </a:stretch>
        </p:blipFill>
        <p:spPr>
          <a:xfrm>
            <a:off x="724455" y="1134803"/>
            <a:ext cx="10629345" cy="1670389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427E9092-3E2F-4C1C-61BA-028E0CAB5C7A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4000" dirty="0"/>
              <a:t>Future Work - </a:t>
            </a:r>
            <a:r>
              <a:rPr lang="de-CH" sz="4000" dirty="0" err="1"/>
              <a:t>Generalization</a:t>
            </a:r>
            <a:r>
              <a:rPr lang="de-CH" sz="4000" dirty="0"/>
              <a:t> on a New Data Set</a:t>
            </a:r>
            <a:endParaRPr lang="de-DE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95BBB-2C68-4258-ADF0-ACC9FCB1CE4B}"/>
              </a:ext>
            </a:extLst>
          </p:cNvPr>
          <p:cNvSpPr txBox="1"/>
          <p:nvPr/>
        </p:nvSpPr>
        <p:spPr>
          <a:xfrm>
            <a:off x="838197" y="2924944"/>
            <a:ext cx="7234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i="1" dirty="0">
                <a:solidFill>
                  <a:srgbClr val="FF0000"/>
                </a:solidFill>
              </a:rPr>
              <a:t>We created a new data set for testing if our model overfits or generalizes</a:t>
            </a:r>
          </a:p>
          <a:p>
            <a:endParaRPr lang="en-CH" i="1" dirty="0">
              <a:solidFill>
                <a:srgbClr val="FF0000"/>
              </a:solidFill>
            </a:endParaRP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FB781893-99C7-261E-FAF1-F2375D590B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45" t="30124" r="6918" b="28304"/>
          <a:stretch>
            <a:fillRect/>
          </a:stretch>
        </p:blipFill>
        <p:spPr>
          <a:xfrm>
            <a:off x="8372101" y="2924944"/>
            <a:ext cx="3569537" cy="24048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0F52B0-C39F-9A4E-EC71-C2556F53EE58}"/>
              </a:ext>
            </a:extLst>
          </p:cNvPr>
          <p:cNvSpPr txBox="1"/>
          <p:nvPr/>
        </p:nvSpPr>
        <p:spPr>
          <a:xfrm>
            <a:off x="838197" y="3396860"/>
            <a:ext cx="6666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H" b="0" i="0" dirty="0">
                <a:effectLst/>
                <a:latin typeface="-apple-system"/>
              </a:rPr>
              <a:t>Results improved, as expected</a:t>
            </a:r>
            <a:r>
              <a:rPr lang="en-CH" dirty="0">
                <a:latin typeface="-apple-system"/>
              </a:rPr>
              <a:t> -&gt; from 22.2% to 50% accuracy</a:t>
            </a:r>
            <a:endParaRPr lang="en-CH" b="0" i="0" dirty="0">
              <a:effectLst/>
              <a:latin typeface="-apple-syste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6615F-A7A1-558C-E5FC-7C95103EB66F}"/>
              </a:ext>
            </a:extLst>
          </p:cNvPr>
          <p:cNvSpPr txBox="1"/>
          <p:nvPr/>
        </p:nvSpPr>
        <p:spPr>
          <a:xfrm>
            <a:off x="838197" y="3868776"/>
            <a:ext cx="7533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H" b="0" i="0" dirty="0">
                <a:effectLst/>
                <a:latin typeface="-apple-system"/>
              </a:rPr>
              <a:t>But they did not reach the success rate of our original dataset (94.4%)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BBDCD3-2836-53DC-540F-042A54B9A981}"/>
              </a:ext>
            </a:extLst>
          </p:cNvPr>
          <p:cNvSpPr txBox="1"/>
          <p:nvPr/>
        </p:nvSpPr>
        <p:spPr>
          <a:xfrm>
            <a:off x="838196" y="4833110"/>
            <a:ext cx="7023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H" b="0" i="0" dirty="0">
                <a:effectLst/>
                <a:latin typeface="-apple-system"/>
              </a:rPr>
              <a:t>Conclusion: the system does not generalize perfectly,  it is partly overfitting to our dataset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F93C0-CF41-B144-6056-88ABF9AE6435}"/>
              </a:ext>
            </a:extLst>
          </p:cNvPr>
          <p:cNvSpPr txBox="1"/>
          <p:nvPr/>
        </p:nvSpPr>
        <p:spPr>
          <a:xfrm>
            <a:off x="838197" y="4350943"/>
            <a:ext cx="7023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It solved &gt;70% of easy questions but none of the hardest ones</a:t>
            </a:r>
            <a:endParaRPr lang="en-CH" b="0" dirty="0">
              <a:effectLst/>
              <a:latin typeface="-apple-syste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3DE97E-F788-40F1-7CE4-AE53F6F8C079}"/>
              </a:ext>
            </a:extLst>
          </p:cNvPr>
          <p:cNvSpPr txBox="1"/>
          <p:nvPr/>
        </p:nvSpPr>
        <p:spPr>
          <a:xfrm>
            <a:off x="838196" y="5627341"/>
            <a:ext cx="10804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0" i="1" dirty="0">
                <a:solidFill>
                  <a:srgbClr val="FF0000"/>
                </a:solidFill>
                <a:effectLst/>
                <a:latin typeface="-apple-system"/>
              </a:rPr>
              <a:t>The held-out set has more aggregation queries (SUM/COUNT/GROUP BY), which were under-represented in our few-shot examples (explaining the 4× aggregation errors)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05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797</Words>
  <Application>Microsoft Macintosh PowerPoint</Application>
  <PresentationFormat>Widescreen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-apple-system</vt:lpstr>
      <vt:lpstr>Aptos</vt:lpstr>
      <vt:lpstr>Aptos Display</vt:lpstr>
      <vt:lpstr>Arial</vt:lpstr>
      <vt:lpstr>Courier New</vt:lpstr>
      <vt:lpstr>Office</vt:lpstr>
      <vt:lpstr>Text-to-SQL with LLM and Agentic AI </vt:lpstr>
      <vt:lpstr>Dataset Choice &amp; Rationale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Kryeziu Leona (xkye)</dc:creator>
  <cp:lastModifiedBy>Johnson Michal (johnsmic)</cp:lastModifiedBy>
  <cp:revision>33</cp:revision>
  <dcterms:created xsi:type="dcterms:W3CDTF">2026-05-14T11:12:32Z</dcterms:created>
  <dcterms:modified xsi:type="dcterms:W3CDTF">2026-05-26T15:11:37Z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2026-05-14T11:15:41Z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cf3c26e8-d82d-472b-b2dd-120e5b4670ca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50, 3, 0, 1</vt:lpwstr>
  </property>
</Properties>
</file>