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2"/>
    <p:restoredTop sz="94658"/>
  </p:normalViewPr>
  <p:slideViewPr>
    <p:cSldViewPr snapToGrid="0">
      <p:cViewPr>
        <p:scale>
          <a:sx n="109" d="100"/>
          <a:sy n="109" d="100"/>
        </p:scale>
        <p:origin x="129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115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joern555/dwh2-text-to-sql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5D04CC0-71F4-60DD-5100-B281B6726F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88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DWH2 Final 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 sz="1700" dirty="0" err="1"/>
              <a:t>Github</a:t>
            </a:r>
            <a:r>
              <a:rPr lang="de-DE" sz="1700" dirty="0"/>
              <a:t>: </a:t>
            </a:r>
            <a:r>
              <a:rPr lang="de-DE" sz="17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https://github.com/bjoern555/dwh2-text-to-sql</a:t>
            </a:r>
            <a:br>
              <a:rPr lang="de-DE" sz="1700" dirty="0">
                <a:solidFill>
                  <a:srgbClr val="FFFFFF"/>
                </a:solidFill>
              </a:rPr>
            </a:br>
            <a:br>
              <a:rPr lang="de-DE" sz="1700" dirty="0">
                <a:solidFill>
                  <a:srgbClr val="FFFFFF"/>
                </a:solidFill>
              </a:rPr>
            </a:br>
            <a:r>
              <a:rPr lang="de-DE" sz="1700" dirty="0">
                <a:solidFill>
                  <a:srgbClr val="FFFFFF"/>
                </a:solidFill>
              </a:rPr>
              <a:t>Michal Johnson, Leona Kryeziu, Björn Wagner</a:t>
            </a:r>
            <a:br>
              <a:rPr lang="de-DE" sz="1700" dirty="0">
                <a:solidFill>
                  <a:srgbClr val="FFFFFF"/>
                </a:solidFill>
              </a:rPr>
            </a:br>
            <a:endParaRPr lang="de-DE" sz="1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946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328483"/>
              </p:ext>
            </p:extLst>
          </p:nvPr>
        </p:nvGraphicFramePr>
        <p:xfrm>
          <a:off x="838200" y="1690688"/>
          <a:ext cx="10515600" cy="21945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Difficulty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easy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hard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extra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/>
                        <a:t>Total</a:t>
                      </a:r>
                      <a:endParaRPr lang="de-CH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 dirty="0"/>
                        <a:t>18</a:t>
                      </a:r>
                      <a:endParaRPr lang="de-CH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9 easy/</a:t>
                      </a:r>
                      <a:r>
                        <a:rPr lang="de-CH" dirty="0" err="1"/>
                        <a:t>med</a:t>
                      </a:r>
                      <a:r>
                        <a:rPr lang="de-CH" dirty="0"/>
                        <a:t> + 9 </a:t>
                      </a:r>
                      <a:r>
                        <a:rPr lang="de-CH" dirty="0" err="1"/>
                        <a:t>hard</a:t>
                      </a:r>
                      <a:r>
                        <a:rPr lang="de-CH" dirty="0"/>
                        <a:t>/extra =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20396" y="4366901"/>
            <a:ext cx="521264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Universally</a:t>
            </a:r>
            <a:r>
              <a:rPr lang="de-CH" dirty="0"/>
              <a:t> </a:t>
            </a:r>
            <a:r>
              <a:rPr lang="de-CH" dirty="0" err="1"/>
              <a:t>familiar</a:t>
            </a:r>
            <a:r>
              <a:rPr lang="de-CH" dirty="0"/>
              <a:t> </a:t>
            </a:r>
            <a:r>
              <a:rPr lang="de-CH" dirty="0" err="1"/>
              <a:t>domain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2D1651-74E0-9B0C-D371-B36936148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System Architecture / Setup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36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CH" sz="2600" b="1" dirty="0"/>
              <a:t>LLM:</a:t>
            </a:r>
            <a:endParaRPr lang="de-CH" sz="2600" dirty="0"/>
          </a:p>
          <a:p>
            <a:r>
              <a:rPr lang="de-CH" sz="2600" dirty="0"/>
              <a:t>Provider: </a:t>
            </a:r>
            <a:r>
              <a:rPr lang="de-CH" sz="2600" dirty="0" err="1"/>
              <a:t>Ollama</a:t>
            </a:r>
            <a:r>
              <a:rPr lang="de-CH" sz="2600" dirty="0"/>
              <a:t> (</a:t>
            </a:r>
            <a:r>
              <a:rPr lang="de-CH" sz="2600" dirty="0" err="1"/>
              <a:t>local</a:t>
            </a:r>
            <a:r>
              <a:rPr lang="de-CH" sz="2600" dirty="0"/>
              <a:t>) mit llama3.2:1b oder OpenAI gpt-4o-mini</a:t>
            </a:r>
          </a:p>
          <a:p>
            <a:r>
              <a:rPr lang="de-CH" sz="2600" dirty="0"/>
              <a:t>Konfigurierbar via .</a:t>
            </a:r>
            <a:r>
              <a:rPr lang="de-CH" sz="2600" dirty="0" err="1"/>
              <a:t>env</a:t>
            </a:r>
            <a:r>
              <a:rPr lang="de-CH" sz="2600" dirty="0"/>
              <a:t> (LLM_PROVIDER, OLLAMA_MODEL, OPENAI_MODEL)</a:t>
            </a:r>
          </a:p>
          <a:p>
            <a:endParaRPr lang="de-CH" sz="2600" dirty="0"/>
          </a:p>
          <a:p>
            <a:pPr marL="0" indent="0">
              <a:buNone/>
            </a:pPr>
            <a:r>
              <a:rPr lang="de-CH" sz="2600" b="1" dirty="0"/>
              <a:t>Database</a:t>
            </a:r>
            <a:endParaRPr lang="de-CH" sz="2600" dirty="0"/>
          </a:p>
          <a:p>
            <a:r>
              <a:rPr lang="de-CH" sz="2600" dirty="0"/>
              <a:t>PostgreSQL, Schema exp_v3, gehostet auf ZHAW-Server</a:t>
            </a:r>
          </a:p>
          <a:p>
            <a:r>
              <a:rPr lang="de-CH" sz="2600" dirty="0"/>
              <a:t>Verbindung via </a:t>
            </a:r>
            <a:r>
              <a:rPr lang="de-CH" sz="2600" dirty="0" err="1"/>
              <a:t>LangChain</a:t>
            </a:r>
            <a:r>
              <a:rPr lang="de-CH" sz="2600" dirty="0"/>
              <a:t> </a:t>
            </a:r>
            <a:r>
              <a:rPr lang="de-CH" sz="2600" dirty="0" err="1"/>
              <a:t>SQLDatabase</a:t>
            </a:r>
            <a:endParaRPr lang="de-CH" sz="2600" dirty="0"/>
          </a:p>
          <a:p>
            <a:pPr marL="0" indent="0">
              <a:buNone/>
            </a:pPr>
            <a:endParaRPr lang="de-CH" sz="2600" b="1" dirty="0"/>
          </a:p>
          <a:p>
            <a:pPr marL="0" indent="0">
              <a:buNone/>
            </a:pPr>
            <a:r>
              <a:rPr lang="de-CH" sz="2600" b="1" dirty="0"/>
              <a:t>Evaluation </a:t>
            </a:r>
            <a:r>
              <a:rPr lang="de-CH" sz="2600" b="1" dirty="0" err="1"/>
              <a:t>Metric</a:t>
            </a:r>
            <a:endParaRPr lang="de-CH" sz="2600" dirty="0"/>
          </a:p>
          <a:p>
            <a:r>
              <a:rPr lang="de-CH" sz="2600" dirty="0" err="1"/>
              <a:t>Execution</a:t>
            </a:r>
            <a:r>
              <a:rPr lang="de-CH" sz="2600" dirty="0"/>
              <a:t> </a:t>
            </a:r>
            <a:r>
              <a:rPr lang="de-CH" sz="2600" dirty="0" err="1"/>
              <a:t>Accuracy</a:t>
            </a:r>
            <a:r>
              <a:rPr lang="de-CH" sz="2600" dirty="0"/>
              <a:t>: </a:t>
            </a:r>
            <a:r>
              <a:rPr lang="de-CH" sz="2600" dirty="0" err="1"/>
              <a:t>Predicted</a:t>
            </a:r>
            <a:r>
              <a:rPr lang="de-CH" sz="2600" dirty="0"/>
              <a:t> </a:t>
            </a:r>
            <a:r>
              <a:rPr lang="de-CH" sz="2600" dirty="0" err="1"/>
              <a:t>result</a:t>
            </a:r>
            <a:r>
              <a:rPr lang="de-CH" sz="2600" dirty="0"/>
              <a:t> == Gold </a:t>
            </a:r>
            <a:r>
              <a:rPr lang="de-CH" sz="2600" dirty="0" err="1"/>
              <a:t>result</a:t>
            </a:r>
            <a:r>
              <a:rPr lang="de-CH" sz="2600" dirty="0"/>
              <a:t> (</a:t>
            </a:r>
            <a:r>
              <a:rPr lang="de-CH" sz="2600" dirty="0" err="1"/>
              <a:t>exact</a:t>
            </a:r>
            <a:r>
              <a:rPr lang="de-CH" sz="2600" dirty="0"/>
              <a:t> match)</a:t>
            </a:r>
          </a:p>
          <a:p>
            <a:r>
              <a:rPr lang="de-CH" sz="2600" dirty="0"/>
              <a:t>Test Set: 18 Fragen (Easy 3 / Medium 6 / Hard 5 / Extra 4)</a:t>
            </a:r>
          </a:p>
          <a:p>
            <a:pPr marL="0" indent="0">
              <a:buNone/>
            </a:pPr>
            <a:br>
              <a:rPr lang="de-CH" sz="2600" dirty="0"/>
            </a:br>
            <a:endParaRPr lang="de-CH" sz="2600" dirty="0"/>
          </a:p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3A03BDE-D80C-E062-846F-FAB338547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48400" y="1446327"/>
            <a:ext cx="6133230" cy="5411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F28D5-FA89-E037-4CF4-5DE8201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6924"/>
          </a:xfrm>
        </p:spPr>
        <p:txBody>
          <a:bodyPr/>
          <a:lstStyle/>
          <a:p>
            <a:r>
              <a:rPr lang="de-DE" dirty="0"/>
              <a:t> Query </a:t>
            </a:r>
            <a:r>
              <a:rPr lang="de-DE" dirty="0" err="1"/>
              <a:t>Examples</a:t>
            </a:r>
            <a:r>
              <a:rPr lang="de-DE" dirty="0"/>
              <a:t> 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3A69168E-09A6-3D56-CE85-43FE76E1D8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19663" y="1248209"/>
            <a:ext cx="6152674" cy="56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3950"/>
          <a:stretch>
            <a:fillRect/>
          </a:stretch>
        </p:blipFill>
        <p:spPr>
          <a:xfrm>
            <a:off x="555475" y="362440"/>
            <a:ext cx="10381229" cy="4732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DCF48-2DDB-2872-CC98-A72A2E6EE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Analysis </a:t>
            </a:r>
            <a:r>
              <a:rPr lang="de-DE" dirty="0" err="1"/>
              <a:t>of</a:t>
            </a:r>
            <a:r>
              <a:rPr lang="de-DE" dirty="0"/>
              <a:t> Errors / Model </a:t>
            </a:r>
            <a:r>
              <a:rPr lang="de-DE" dirty="0" err="1"/>
              <a:t>Limitations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The 1B </a:t>
            </a:r>
            <a:r>
              <a:rPr lang="de-CH" dirty="0" err="1"/>
              <a:t>model</a:t>
            </a:r>
            <a:r>
              <a:rPr lang="de-CH" dirty="0"/>
              <a:t> </a:t>
            </a:r>
            <a:r>
              <a:rPr lang="de-CH" dirty="0" err="1"/>
              <a:t>fails</a:t>
            </a:r>
            <a:r>
              <a:rPr lang="de-CH" dirty="0"/>
              <a:t> </a:t>
            </a:r>
            <a:r>
              <a:rPr lang="de-CH" dirty="0" err="1"/>
              <a:t>almost</a:t>
            </a:r>
            <a:r>
              <a:rPr lang="de-CH" dirty="0"/>
              <a:t> </a:t>
            </a:r>
            <a:r>
              <a:rPr lang="de-CH" dirty="0" err="1"/>
              <a:t>entirely</a:t>
            </a:r>
            <a:r>
              <a:rPr lang="de-CH" dirty="0"/>
              <a:t> at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</a:t>
            </a:r>
            <a:r>
              <a:rPr lang="de-CH" dirty="0" err="1"/>
              <a:t>levelWrong</a:t>
            </a:r>
            <a:r>
              <a:rPr lang="de-CH" dirty="0"/>
              <a:t> </a:t>
            </a:r>
            <a:r>
              <a:rPr lang="de-CH" dirty="0" err="1"/>
              <a:t>joins</a:t>
            </a:r>
            <a:r>
              <a:rPr lang="de-CH" dirty="0"/>
              <a:t> and </a:t>
            </a:r>
            <a:r>
              <a:rPr lang="de-CH" dirty="0" err="1"/>
              <a:t>hallucinated</a:t>
            </a:r>
            <a:r>
              <a:rPr lang="de-CH" dirty="0"/>
              <a:t> </a:t>
            </a:r>
            <a:r>
              <a:rPr lang="de-CH" dirty="0" err="1"/>
              <a:t>columns</a:t>
            </a:r>
            <a:r>
              <a:rPr lang="de-CH" dirty="0"/>
              <a:t> </a:t>
            </a:r>
            <a:r>
              <a:rPr lang="de-CH" dirty="0" err="1"/>
              <a:t>account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11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14 </a:t>
            </a:r>
            <a:r>
              <a:rPr lang="de-CH" dirty="0" err="1"/>
              <a:t>failures</a:t>
            </a:r>
            <a:endParaRPr lang="de-CH" dirty="0"/>
          </a:p>
          <a:p>
            <a:pPr lvl="1"/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drops</a:t>
            </a:r>
            <a:r>
              <a:rPr lang="de-CH" dirty="0"/>
              <a:t> </a:t>
            </a:r>
            <a:r>
              <a:rPr lang="de-CH" dirty="0" err="1"/>
              <a:t>sharply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increasing</a:t>
            </a:r>
            <a:r>
              <a:rPr lang="de-CH" dirty="0"/>
              <a:t> </a:t>
            </a:r>
            <a:r>
              <a:rPr lang="de-CH" dirty="0" err="1"/>
              <a:t>difficultyEasy</a:t>
            </a:r>
            <a:r>
              <a:rPr lang="de-CH" dirty="0"/>
              <a:t>: 67%</a:t>
            </a:r>
          </a:p>
          <a:p>
            <a:pPr lvl="1"/>
            <a:r>
              <a:rPr lang="de-CH" dirty="0"/>
              <a:t>Extra: 0%</a:t>
            </a:r>
          </a:p>
          <a:p>
            <a:r>
              <a:rPr lang="de-CH" dirty="0"/>
              <a:t>2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4 “</a:t>
            </a:r>
            <a:r>
              <a:rPr lang="de-CH" dirty="0" err="1"/>
              <a:t>correct</a:t>
            </a:r>
            <a:r>
              <a:rPr lang="de-CH" dirty="0"/>
              <a:t>” </a:t>
            </a:r>
            <a:r>
              <a:rPr lang="de-CH" dirty="0" err="1"/>
              <a:t>answers</a:t>
            </a:r>
            <a:r>
              <a:rPr lang="de-CH" dirty="0"/>
              <a:t> </a:t>
            </a:r>
            <a:r>
              <a:rPr lang="de-CH" dirty="0" err="1"/>
              <a:t>were</a:t>
            </a:r>
            <a:r>
              <a:rPr lang="de-CH" dirty="0"/>
              <a:t> </a:t>
            </a:r>
            <a:r>
              <a:rPr lang="de-CH" dirty="0" err="1"/>
              <a:t>only</a:t>
            </a:r>
            <a:r>
              <a:rPr lang="de-CH" dirty="0"/>
              <a:t> lucky </a:t>
            </a:r>
            <a:r>
              <a:rPr lang="de-CH" dirty="0" err="1"/>
              <a:t>guessesEffective</a:t>
            </a:r>
            <a:r>
              <a:rPr lang="de-CH" dirty="0"/>
              <a:t> real </a:t>
            </a:r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therefore</a:t>
            </a:r>
            <a:r>
              <a:rPr lang="de-CH" dirty="0"/>
              <a:t> </a:t>
            </a:r>
            <a:r>
              <a:rPr lang="de-CH" dirty="0" err="1"/>
              <a:t>closer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~11%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9C091D1-3E00-6659-7EB0-35A25B7CD0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809" y="261520"/>
            <a:ext cx="7041769" cy="621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D88D8D-742D-C8A4-7308-30A653713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206"/>
            <a:ext cx="10515600" cy="1325563"/>
          </a:xfrm>
        </p:spPr>
        <p:txBody>
          <a:bodyPr/>
          <a:lstStyle/>
          <a:p>
            <a:r>
              <a:rPr lang="de-CH" dirty="0" err="1"/>
              <a:t>Testing</a:t>
            </a:r>
            <a:r>
              <a:rPr lang="de-CH" dirty="0"/>
              <a:t> </a:t>
            </a:r>
            <a:r>
              <a:rPr lang="de-CH" dirty="0" err="1"/>
              <a:t>overfitting</a:t>
            </a:r>
            <a:r>
              <a:rPr lang="de-CH" dirty="0"/>
              <a:t> on </a:t>
            </a:r>
            <a:r>
              <a:rPr lang="de-CH" dirty="0" err="1"/>
              <a:t>new</a:t>
            </a:r>
            <a:r>
              <a:rPr lang="de-CH" dirty="0"/>
              <a:t> </a:t>
            </a:r>
            <a:r>
              <a:rPr lang="de-CH" dirty="0" err="1"/>
              <a:t>test</a:t>
            </a:r>
            <a:r>
              <a:rPr lang="de-CH" dirty="0"/>
              <a:t> </a:t>
            </a:r>
            <a:r>
              <a:rPr lang="de-CH" dirty="0" err="1"/>
              <a:t>set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D7C27D7-D5D1-FDDB-6955-382DE9364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201" b="28304"/>
          <a:stretch>
            <a:fillRect/>
          </a:stretch>
        </p:blipFill>
        <p:spPr>
          <a:xfrm>
            <a:off x="685800" y="1225061"/>
            <a:ext cx="10251685" cy="4407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057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191700-7A1A-EE6D-EAAF-9424295F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r>
              <a:rPr lang="de-DE" dirty="0"/>
              <a:t> and </a:t>
            </a:r>
            <a:r>
              <a:rPr lang="de-DE"/>
              <a:t>Future Work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92-9C9B-1DA6-0E75-4BBF6EC3A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managed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adjust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reach</a:t>
            </a:r>
            <a:r>
              <a:rPr lang="de-DE" dirty="0"/>
              <a:t> a </a:t>
            </a:r>
            <a:r>
              <a:rPr lang="de-DE" dirty="0" err="1"/>
              <a:t>successrate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94% (17/18)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22% (4/18). The </a:t>
            </a:r>
            <a:r>
              <a:rPr lang="de-DE" dirty="0" err="1"/>
              <a:t>strongest</a:t>
            </a:r>
            <a:r>
              <a:rPr lang="de-DE" dirty="0"/>
              <a:t> </a:t>
            </a:r>
            <a:r>
              <a:rPr lang="de-DE" dirty="0" err="1"/>
              <a:t>impact</a:t>
            </a:r>
            <a:r>
              <a:rPr lang="de-DE" dirty="0"/>
              <a:t> was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adjusting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llama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qwen</a:t>
            </a:r>
            <a:r>
              <a:rPr lang="de-DE" dirty="0"/>
              <a:t>.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prove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completly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questions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optimezed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on and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reached</a:t>
            </a:r>
            <a:r>
              <a:rPr lang="de-DE" dirty="0"/>
              <a:t> 50% (9/18)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generalizing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like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on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generalizing</a:t>
            </a:r>
            <a:r>
              <a:rPr lang="de-DE" dirty="0"/>
              <a:t>, </a:t>
            </a:r>
            <a:r>
              <a:rPr lang="de-DE" dirty="0" err="1"/>
              <a:t>meaning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different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same time </a:t>
            </a:r>
            <a:r>
              <a:rPr lang="de-DE" dirty="0" err="1"/>
              <a:t>to</a:t>
            </a:r>
            <a:r>
              <a:rPr lang="de-DE" dirty="0"/>
              <a:t> check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reached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scores</a:t>
            </a:r>
            <a:r>
              <a:rPr lang="de-DE" dirty="0"/>
              <a:t> in </a:t>
            </a:r>
            <a:r>
              <a:rPr lang="de-DE" dirty="0" err="1"/>
              <a:t>general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</Words>
  <Application>Microsoft Macintosh PowerPoint</Application>
  <PresentationFormat>Breitbild</PresentationFormat>
  <Paragraphs>52</Paragraphs>
  <Slides>9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DWH2 Final Projekt</vt:lpstr>
      <vt:lpstr>Dataset Choice &amp; Rationale </vt:lpstr>
      <vt:lpstr> System Architecture / Setup </vt:lpstr>
      <vt:lpstr> Query Examples </vt:lpstr>
      <vt:lpstr>PowerPoint-Präsentation</vt:lpstr>
      <vt:lpstr> Analysis of Errors / Model Limitations </vt:lpstr>
      <vt:lpstr>PowerPoint-Präsentation</vt:lpstr>
      <vt:lpstr>Testing overfitting on new test set</vt:lpstr>
      <vt:lpstr>Conclusion and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Kryeziu Leona (xkye)</cp:lastModifiedBy>
  <cp:revision>27</cp:revision>
  <dcterms:created xsi:type="dcterms:W3CDTF">2026-05-14T11:12:32Z</dcterms:created>
  <dcterms:modified xsi:type="dcterms:W3CDTF">2026-05-14T15:01:47Z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