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Designformatvorlage 1 - Akz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E8034E78-7F5D-4C2E-B375-FC64B27BC917}" styleName="Dunkle Formatvorlag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15"/>
    <p:restoredTop sz="94639"/>
  </p:normalViewPr>
  <p:slideViewPr>
    <p:cSldViewPr snapToGrid="0">
      <p:cViewPr>
        <p:scale>
          <a:sx n="109" d="100"/>
          <a:sy n="109" d="100"/>
        </p:scale>
        <p:origin x="504" y="10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533454-88E3-435E-A7F4-AA362E8A3B1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BC12662-E32F-468D-A6ED-E37E896CA00A}">
      <dgm:prSet/>
      <dgm:spPr/>
      <dgm:t>
        <a:bodyPr/>
        <a:lstStyle/>
        <a:p>
          <a:r>
            <a:rPr lang="de-DE"/>
            <a:t>We managed to adjust our model to reach a successrate of 94% (17/18) with a start of 22% (4/18)</a:t>
          </a:r>
          <a:endParaRPr lang="en-US"/>
        </a:p>
      </dgm:t>
    </dgm:pt>
    <dgm:pt modelId="{6441A912-B8AE-4D62-B119-76A22690D285}" type="parTrans" cxnId="{C806BDCB-6985-4AC9-8636-EC5483EB895D}">
      <dgm:prSet/>
      <dgm:spPr/>
      <dgm:t>
        <a:bodyPr/>
        <a:lstStyle/>
        <a:p>
          <a:endParaRPr lang="en-US"/>
        </a:p>
      </dgm:t>
    </dgm:pt>
    <dgm:pt modelId="{5D588B93-55BC-489A-B3EB-71D3A76E91D4}" type="sibTrans" cxnId="{C806BDCB-6985-4AC9-8636-EC5483EB895D}">
      <dgm:prSet/>
      <dgm:spPr/>
      <dgm:t>
        <a:bodyPr/>
        <a:lstStyle/>
        <a:p>
          <a:endParaRPr lang="en-US"/>
        </a:p>
      </dgm:t>
    </dgm:pt>
    <dgm:pt modelId="{1C736EFF-F7B1-4480-9FE7-4833AD69F6B2}">
      <dgm:prSet/>
      <dgm:spPr/>
      <dgm:t>
        <a:bodyPr/>
        <a:lstStyle/>
        <a:p>
          <a:r>
            <a:rPr lang="de-DE" dirty="0"/>
            <a:t>The </a:t>
          </a:r>
          <a:r>
            <a:rPr lang="de-DE" dirty="0" err="1"/>
            <a:t>strongest</a:t>
          </a:r>
          <a:r>
            <a:rPr lang="de-DE" dirty="0"/>
            <a:t> </a:t>
          </a:r>
          <a:r>
            <a:rPr lang="de-DE" dirty="0" err="1"/>
            <a:t>impact</a:t>
          </a:r>
          <a:r>
            <a:rPr lang="de-DE" dirty="0"/>
            <a:t> was </a:t>
          </a:r>
          <a:r>
            <a:rPr lang="de-DE" dirty="0" err="1"/>
            <a:t>from</a:t>
          </a:r>
          <a:r>
            <a:rPr lang="de-DE" dirty="0"/>
            <a:t> </a:t>
          </a:r>
          <a:r>
            <a:rPr lang="de-DE" dirty="0" err="1"/>
            <a:t>describing</a:t>
          </a:r>
          <a:r>
            <a:rPr lang="de-DE" dirty="0"/>
            <a:t> </a:t>
          </a:r>
          <a:r>
            <a:rPr lang="de-DE" dirty="0" err="1"/>
            <a:t>the</a:t>
          </a:r>
          <a:r>
            <a:rPr lang="de-DE" dirty="0"/>
            <a:t> </a:t>
          </a:r>
          <a:r>
            <a:rPr lang="de-DE" dirty="0" err="1"/>
            <a:t>tables</a:t>
          </a:r>
          <a:r>
            <a:rPr lang="de-DE" dirty="0"/>
            <a:t> </a:t>
          </a:r>
          <a:r>
            <a:rPr lang="de-DE" dirty="0" err="1"/>
            <a:t>to</a:t>
          </a:r>
          <a:r>
            <a:rPr lang="de-DE" dirty="0"/>
            <a:t> </a:t>
          </a:r>
          <a:r>
            <a:rPr lang="de-DE" dirty="0" err="1"/>
            <a:t>the</a:t>
          </a:r>
          <a:r>
            <a:rPr lang="de-DE" dirty="0"/>
            <a:t> </a:t>
          </a:r>
          <a:r>
            <a:rPr lang="de-DE" dirty="0" err="1"/>
            <a:t>model</a:t>
          </a:r>
          <a:r>
            <a:rPr lang="de-DE" dirty="0"/>
            <a:t> and </a:t>
          </a:r>
          <a:r>
            <a:rPr lang="de-DE" dirty="0" err="1"/>
            <a:t>adjusting</a:t>
          </a:r>
          <a:r>
            <a:rPr lang="de-DE" dirty="0"/>
            <a:t> </a:t>
          </a:r>
          <a:r>
            <a:rPr lang="de-DE" dirty="0" err="1"/>
            <a:t>the</a:t>
          </a:r>
          <a:r>
            <a:rPr lang="de-DE" dirty="0"/>
            <a:t> </a:t>
          </a:r>
          <a:r>
            <a:rPr lang="de-DE" dirty="0" err="1"/>
            <a:t>model</a:t>
          </a:r>
          <a:r>
            <a:rPr lang="de-DE" dirty="0"/>
            <a:t> </a:t>
          </a:r>
          <a:r>
            <a:rPr lang="de-DE" dirty="0" err="1"/>
            <a:t>from</a:t>
          </a:r>
          <a:r>
            <a:rPr lang="de-DE" dirty="0"/>
            <a:t> </a:t>
          </a:r>
          <a:r>
            <a:rPr lang="de-DE" dirty="0" err="1"/>
            <a:t>llama</a:t>
          </a:r>
          <a:r>
            <a:rPr lang="de-DE" dirty="0"/>
            <a:t> </a:t>
          </a:r>
          <a:r>
            <a:rPr lang="de-DE" dirty="0" err="1"/>
            <a:t>to</a:t>
          </a:r>
          <a:r>
            <a:rPr lang="de-DE" dirty="0"/>
            <a:t> </a:t>
          </a:r>
          <a:r>
            <a:rPr lang="de-DE" dirty="0" err="1"/>
            <a:t>qwen</a:t>
          </a:r>
          <a:endParaRPr lang="en-US" dirty="0"/>
        </a:p>
      </dgm:t>
    </dgm:pt>
    <dgm:pt modelId="{0A67B242-8BBD-4AB6-B67E-32281DCDB89B}" type="parTrans" cxnId="{2B8B44E6-75BA-4E12-828C-8D767B9805FE}">
      <dgm:prSet/>
      <dgm:spPr/>
      <dgm:t>
        <a:bodyPr/>
        <a:lstStyle/>
        <a:p>
          <a:endParaRPr lang="en-US"/>
        </a:p>
      </dgm:t>
    </dgm:pt>
    <dgm:pt modelId="{A98F62DB-E2B9-4682-B568-11FDA23D9D10}" type="sibTrans" cxnId="{2B8B44E6-75BA-4E12-828C-8D767B9805FE}">
      <dgm:prSet/>
      <dgm:spPr/>
      <dgm:t>
        <a:bodyPr/>
        <a:lstStyle/>
        <a:p>
          <a:endParaRPr lang="en-US"/>
        </a:p>
      </dgm:t>
    </dgm:pt>
    <dgm:pt modelId="{E8524C30-42AC-4ACE-A5A4-3E07D037F938}">
      <dgm:prSet/>
      <dgm:spPr/>
      <dgm:t>
        <a:bodyPr/>
        <a:lstStyle/>
        <a:p>
          <a:r>
            <a:rPr lang="de-DE"/>
            <a:t>We wanted to prove that our model is not completly overfitting to the questions we optimezed it on and it reached 50% (9/18) which means it is not generalizing that well</a:t>
          </a:r>
          <a:endParaRPr lang="en-US"/>
        </a:p>
      </dgm:t>
    </dgm:pt>
    <dgm:pt modelId="{D3000381-2D0C-48B1-9961-28AD6253FF94}" type="parTrans" cxnId="{EF39DBBA-7996-422A-8478-53206672FE9A}">
      <dgm:prSet/>
      <dgm:spPr/>
      <dgm:t>
        <a:bodyPr/>
        <a:lstStyle/>
        <a:p>
          <a:endParaRPr lang="en-US"/>
        </a:p>
      </dgm:t>
    </dgm:pt>
    <dgm:pt modelId="{DDE9B276-5342-46FA-A360-2220D186F5BD}" type="sibTrans" cxnId="{EF39DBBA-7996-422A-8478-53206672FE9A}">
      <dgm:prSet/>
      <dgm:spPr/>
      <dgm:t>
        <a:bodyPr/>
        <a:lstStyle/>
        <a:p>
          <a:endParaRPr lang="en-US"/>
        </a:p>
      </dgm:t>
    </dgm:pt>
    <dgm:pt modelId="{AAABDF2D-5572-4DA0-B4B8-C017285213FD}">
      <dgm:prSet/>
      <dgm:spPr/>
      <dgm:t>
        <a:bodyPr/>
        <a:lstStyle/>
        <a:p>
          <a:r>
            <a:rPr lang="de-DE" dirty="0"/>
            <a:t>In </a:t>
          </a:r>
          <a:r>
            <a:rPr lang="de-DE" dirty="0" err="1"/>
            <a:t>the</a:t>
          </a:r>
          <a:r>
            <a:rPr lang="de-DE" dirty="0"/>
            <a:t> </a:t>
          </a:r>
          <a:r>
            <a:rPr lang="de-DE" dirty="0" err="1"/>
            <a:t>future</a:t>
          </a:r>
          <a:r>
            <a:rPr lang="de-DE" dirty="0"/>
            <a:t> </a:t>
          </a:r>
          <a:r>
            <a:rPr lang="de-DE" dirty="0" err="1"/>
            <a:t>we</a:t>
          </a:r>
          <a:r>
            <a:rPr lang="de-DE" dirty="0"/>
            <a:t> </a:t>
          </a:r>
          <a:r>
            <a:rPr lang="de-DE" dirty="0" err="1"/>
            <a:t>would</a:t>
          </a:r>
          <a:r>
            <a:rPr lang="de-DE" dirty="0"/>
            <a:t> like </a:t>
          </a:r>
          <a:r>
            <a:rPr lang="de-DE" dirty="0" err="1"/>
            <a:t>to</a:t>
          </a:r>
          <a:r>
            <a:rPr lang="de-DE" dirty="0"/>
            <a:t> </a:t>
          </a:r>
          <a:r>
            <a:rPr lang="de-DE" dirty="0" err="1"/>
            <a:t>optimize</a:t>
          </a:r>
          <a:r>
            <a:rPr lang="de-DE" dirty="0"/>
            <a:t> on </a:t>
          </a:r>
          <a:r>
            <a:rPr lang="de-DE" dirty="0" err="1"/>
            <a:t>parameters</a:t>
          </a:r>
          <a:r>
            <a:rPr lang="de-DE" dirty="0"/>
            <a:t> </a:t>
          </a:r>
          <a:r>
            <a:rPr lang="de-DE" dirty="0" err="1"/>
            <a:t>that</a:t>
          </a:r>
          <a:r>
            <a:rPr lang="de-DE" dirty="0"/>
            <a:t> </a:t>
          </a:r>
          <a:r>
            <a:rPr lang="de-DE" dirty="0" err="1"/>
            <a:t>are</a:t>
          </a:r>
          <a:r>
            <a:rPr lang="de-DE" dirty="0"/>
            <a:t> </a:t>
          </a:r>
          <a:r>
            <a:rPr lang="de-DE" dirty="0" err="1"/>
            <a:t>generalizing</a:t>
          </a:r>
          <a:r>
            <a:rPr lang="de-DE" dirty="0"/>
            <a:t>, </a:t>
          </a:r>
          <a:r>
            <a:rPr lang="de-DE" dirty="0" err="1"/>
            <a:t>meaning</a:t>
          </a:r>
          <a:r>
            <a:rPr lang="de-DE" dirty="0"/>
            <a:t> </a:t>
          </a:r>
          <a:r>
            <a:rPr lang="de-DE" dirty="0" err="1"/>
            <a:t>to</a:t>
          </a:r>
          <a:r>
            <a:rPr lang="de-DE" dirty="0"/>
            <a:t> </a:t>
          </a:r>
          <a:r>
            <a:rPr lang="de-DE" dirty="0" err="1"/>
            <a:t>evaluate</a:t>
          </a:r>
          <a:r>
            <a:rPr lang="de-DE" dirty="0"/>
            <a:t> different </a:t>
          </a:r>
          <a:r>
            <a:rPr lang="de-DE" dirty="0" err="1"/>
            <a:t>test</a:t>
          </a:r>
          <a:r>
            <a:rPr lang="de-DE" dirty="0"/>
            <a:t> </a:t>
          </a:r>
          <a:r>
            <a:rPr lang="de-DE" dirty="0" err="1"/>
            <a:t>sets</a:t>
          </a:r>
          <a:r>
            <a:rPr lang="de-DE" dirty="0"/>
            <a:t> at </a:t>
          </a:r>
          <a:r>
            <a:rPr lang="de-DE" dirty="0" err="1"/>
            <a:t>the</a:t>
          </a:r>
          <a:r>
            <a:rPr lang="de-DE" dirty="0"/>
            <a:t> same time </a:t>
          </a:r>
          <a:r>
            <a:rPr lang="de-DE" dirty="0" err="1"/>
            <a:t>to</a:t>
          </a:r>
          <a:r>
            <a:rPr lang="de-DE" dirty="0"/>
            <a:t> check </a:t>
          </a:r>
          <a:r>
            <a:rPr lang="de-DE" dirty="0" err="1"/>
            <a:t>if</a:t>
          </a:r>
          <a:r>
            <a:rPr lang="de-DE" dirty="0"/>
            <a:t> </a:t>
          </a:r>
          <a:r>
            <a:rPr lang="de-DE" dirty="0" err="1"/>
            <a:t>we</a:t>
          </a:r>
          <a:r>
            <a:rPr lang="de-DE" dirty="0"/>
            <a:t> </a:t>
          </a:r>
          <a:r>
            <a:rPr lang="de-DE" dirty="0" err="1"/>
            <a:t>reached</a:t>
          </a:r>
          <a:r>
            <a:rPr lang="de-DE" dirty="0"/>
            <a:t> </a:t>
          </a:r>
          <a:r>
            <a:rPr lang="de-DE" dirty="0" err="1"/>
            <a:t>better</a:t>
          </a:r>
          <a:r>
            <a:rPr lang="de-DE" dirty="0"/>
            <a:t> </a:t>
          </a:r>
          <a:r>
            <a:rPr lang="de-DE" dirty="0" err="1"/>
            <a:t>scores</a:t>
          </a:r>
          <a:r>
            <a:rPr lang="de-DE" dirty="0"/>
            <a:t> in </a:t>
          </a:r>
          <a:r>
            <a:rPr lang="de-DE" dirty="0" err="1"/>
            <a:t>general</a:t>
          </a:r>
          <a:endParaRPr lang="en-US" dirty="0"/>
        </a:p>
      </dgm:t>
    </dgm:pt>
    <dgm:pt modelId="{AADC3671-29B6-444B-9F05-AFCD29CD090C}" type="parTrans" cxnId="{6D32D669-244B-47F5-A76C-8D42C253C41A}">
      <dgm:prSet/>
      <dgm:spPr/>
      <dgm:t>
        <a:bodyPr/>
        <a:lstStyle/>
        <a:p>
          <a:endParaRPr lang="en-US"/>
        </a:p>
      </dgm:t>
    </dgm:pt>
    <dgm:pt modelId="{DBF888C9-4357-403F-9E86-548AE3D826BE}" type="sibTrans" cxnId="{6D32D669-244B-47F5-A76C-8D42C253C41A}">
      <dgm:prSet/>
      <dgm:spPr/>
      <dgm:t>
        <a:bodyPr/>
        <a:lstStyle/>
        <a:p>
          <a:endParaRPr lang="en-US"/>
        </a:p>
      </dgm:t>
    </dgm:pt>
    <dgm:pt modelId="{4E454690-5819-A044-A22E-8711A5F4DD57}" type="pres">
      <dgm:prSet presAssocID="{B3533454-88E3-435E-A7F4-AA362E8A3B12}" presName="linear" presStyleCnt="0">
        <dgm:presLayoutVars>
          <dgm:animLvl val="lvl"/>
          <dgm:resizeHandles val="exact"/>
        </dgm:presLayoutVars>
      </dgm:prSet>
      <dgm:spPr/>
    </dgm:pt>
    <dgm:pt modelId="{5C423DD3-D902-2A4A-B9D4-52B7C2C78095}" type="pres">
      <dgm:prSet presAssocID="{EBC12662-E32F-468D-A6ED-E37E896CA00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7146106-827F-4D44-BEC1-37A10CC63CC1}" type="pres">
      <dgm:prSet presAssocID="{5D588B93-55BC-489A-B3EB-71D3A76E91D4}" presName="spacer" presStyleCnt="0"/>
      <dgm:spPr/>
    </dgm:pt>
    <dgm:pt modelId="{4E3E7EB8-E9A8-9142-BBFC-BD66F567CC7E}" type="pres">
      <dgm:prSet presAssocID="{1C736EFF-F7B1-4480-9FE7-4833AD69F6B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4CC068D-029D-F64B-A746-54FD125B2535}" type="pres">
      <dgm:prSet presAssocID="{A98F62DB-E2B9-4682-B568-11FDA23D9D10}" presName="spacer" presStyleCnt="0"/>
      <dgm:spPr/>
    </dgm:pt>
    <dgm:pt modelId="{FCF26537-BF41-714D-98E3-A66393AE860D}" type="pres">
      <dgm:prSet presAssocID="{E8524C30-42AC-4ACE-A5A4-3E07D037F93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32C1B21-02D7-1F40-A3D8-7F58108EF9AD}" type="pres">
      <dgm:prSet presAssocID="{DDE9B276-5342-46FA-A360-2220D186F5BD}" presName="spacer" presStyleCnt="0"/>
      <dgm:spPr/>
    </dgm:pt>
    <dgm:pt modelId="{65658E7B-E377-6C45-A5C9-23E64219D2CB}" type="pres">
      <dgm:prSet presAssocID="{AAABDF2D-5572-4DA0-B4B8-C017285213F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069F50D-0428-F343-8D5D-4A97060AF173}" type="presOf" srcId="{EBC12662-E32F-468D-A6ED-E37E896CA00A}" destId="{5C423DD3-D902-2A4A-B9D4-52B7C2C78095}" srcOrd="0" destOrd="0" presId="urn:microsoft.com/office/officeart/2005/8/layout/vList2"/>
    <dgm:cxn modelId="{F24FD35C-DCB2-814C-BC37-7072812C5973}" type="presOf" srcId="{E8524C30-42AC-4ACE-A5A4-3E07D037F938}" destId="{FCF26537-BF41-714D-98E3-A66393AE860D}" srcOrd="0" destOrd="0" presId="urn:microsoft.com/office/officeart/2005/8/layout/vList2"/>
    <dgm:cxn modelId="{76BC0968-3B6E-EA40-8F07-A6E48D3EA32F}" type="presOf" srcId="{B3533454-88E3-435E-A7F4-AA362E8A3B12}" destId="{4E454690-5819-A044-A22E-8711A5F4DD57}" srcOrd="0" destOrd="0" presId="urn:microsoft.com/office/officeart/2005/8/layout/vList2"/>
    <dgm:cxn modelId="{6D32D669-244B-47F5-A76C-8D42C253C41A}" srcId="{B3533454-88E3-435E-A7F4-AA362E8A3B12}" destId="{AAABDF2D-5572-4DA0-B4B8-C017285213FD}" srcOrd="3" destOrd="0" parTransId="{AADC3671-29B6-444B-9F05-AFCD29CD090C}" sibTransId="{DBF888C9-4357-403F-9E86-548AE3D826BE}"/>
    <dgm:cxn modelId="{831E2471-B667-DD45-89C8-49D851BC1674}" type="presOf" srcId="{1C736EFF-F7B1-4480-9FE7-4833AD69F6B2}" destId="{4E3E7EB8-E9A8-9142-BBFC-BD66F567CC7E}" srcOrd="0" destOrd="0" presId="urn:microsoft.com/office/officeart/2005/8/layout/vList2"/>
    <dgm:cxn modelId="{EF39DBBA-7996-422A-8478-53206672FE9A}" srcId="{B3533454-88E3-435E-A7F4-AA362E8A3B12}" destId="{E8524C30-42AC-4ACE-A5A4-3E07D037F938}" srcOrd="2" destOrd="0" parTransId="{D3000381-2D0C-48B1-9961-28AD6253FF94}" sibTransId="{DDE9B276-5342-46FA-A360-2220D186F5BD}"/>
    <dgm:cxn modelId="{C806BDCB-6985-4AC9-8636-EC5483EB895D}" srcId="{B3533454-88E3-435E-A7F4-AA362E8A3B12}" destId="{EBC12662-E32F-468D-A6ED-E37E896CA00A}" srcOrd="0" destOrd="0" parTransId="{6441A912-B8AE-4D62-B119-76A22690D285}" sibTransId="{5D588B93-55BC-489A-B3EB-71D3A76E91D4}"/>
    <dgm:cxn modelId="{2B8B44E6-75BA-4E12-828C-8D767B9805FE}" srcId="{B3533454-88E3-435E-A7F4-AA362E8A3B12}" destId="{1C736EFF-F7B1-4480-9FE7-4833AD69F6B2}" srcOrd="1" destOrd="0" parTransId="{0A67B242-8BBD-4AB6-B67E-32281DCDB89B}" sibTransId="{A98F62DB-E2B9-4682-B568-11FDA23D9D10}"/>
    <dgm:cxn modelId="{9CFF01FE-9FC6-104B-AC16-43CB55CFCB8A}" type="presOf" srcId="{AAABDF2D-5572-4DA0-B4B8-C017285213FD}" destId="{65658E7B-E377-6C45-A5C9-23E64219D2CB}" srcOrd="0" destOrd="0" presId="urn:microsoft.com/office/officeart/2005/8/layout/vList2"/>
    <dgm:cxn modelId="{38F77335-09E6-224F-A9CE-9E06D3C127A8}" type="presParOf" srcId="{4E454690-5819-A044-A22E-8711A5F4DD57}" destId="{5C423DD3-D902-2A4A-B9D4-52B7C2C78095}" srcOrd="0" destOrd="0" presId="urn:microsoft.com/office/officeart/2005/8/layout/vList2"/>
    <dgm:cxn modelId="{1D4B05F3-1D59-6F40-8DA2-3BA1260FFCDB}" type="presParOf" srcId="{4E454690-5819-A044-A22E-8711A5F4DD57}" destId="{D7146106-827F-4D44-BEC1-37A10CC63CC1}" srcOrd="1" destOrd="0" presId="urn:microsoft.com/office/officeart/2005/8/layout/vList2"/>
    <dgm:cxn modelId="{ED31BE9E-8D7C-324D-9C82-992CD0483C11}" type="presParOf" srcId="{4E454690-5819-A044-A22E-8711A5F4DD57}" destId="{4E3E7EB8-E9A8-9142-BBFC-BD66F567CC7E}" srcOrd="2" destOrd="0" presId="urn:microsoft.com/office/officeart/2005/8/layout/vList2"/>
    <dgm:cxn modelId="{D7D1DDE0-E0A5-EB4F-BAE0-28E5B9F59A90}" type="presParOf" srcId="{4E454690-5819-A044-A22E-8711A5F4DD57}" destId="{34CC068D-029D-F64B-A746-54FD125B2535}" srcOrd="3" destOrd="0" presId="urn:microsoft.com/office/officeart/2005/8/layout/vList2"/>
    <dgm:cxn modelId="{4BB2193B-AA95-5947-907E-974C42934762}" type="presParOf" srcId="{4E454690-5819-A044-A22E-8711A5F4DD57}" destId="{FCF26537-BF41-714D-98E3-A66393AE860D}" srcOrd="4" destOrd="0" presId="urn:microsoft.com/office/officeart/2005/8/layout/vList2"/>
    <dgm:cxn modelId="{9EF828BF-70B8-D149-9EDF-FE7AFF2C56A7}" type="presParOf" srcId="{4E454690-5819-A044-A22E-8711A5F4DD57}" destId="{632C1B21-02D7-1F40-A3D8-7F58108EF9AD}" srcOrd="5" destOrd="0" presId="urn:microsoft.com/office/officeart/2005/8/layout/vList2"/>
    <dgm:cxn modelId="{80933E73-8C51-D14A-AF99-12FAE774D327}" type="presParOf" srcId="{4E454690-5819-A044-A22E-8711A5F4DD57}" destId="{65658E7B-E377-6C45-A5C9-23E64219D2C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423DD3-D902-2A4A-B9D4-52B7C2C78095}">
      <dsp:nvSpPr>
        <dsp:cNvPr id="0" name=""/>
        <dsp:cNvSpPr/>
      </dsp:nvSpPr>
      <dsp:spPr>
        <a:xfrm>
          <a:off x="0" y="498069"/>
          <a:ext cx="10111155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/>
            <a:t>We managed to adjust our model to reach a successrate of 94% (17/18) with a start of 22% (4/18)</a:t>
          </a:r>
          <a:endParaRPr lang="en-US" sz="2000" kern="1200"/>
        </a:p>
      </dsp:txBody>
      <dsp:txXfrm>
        <a:off x="38838" y="536907"/>
        <a:ext cx="10033479" cy="717924"/>
      </dsp:txXfrm>
    </dsp:sp>
    <dsp:sp modelId="{4E3E7EB8-E9A8-9142-BBFC-BD66F567CC7E}">
      <dsp:nvSpPr>
        <dsp:cNvPr id="0" name=""/>
        <dsp:cNvSpPr/>
      </dsp:nvSpPr>
      <dsp:spPr>
        <a:xfrm>
          <a:off x="0" y="1351269"/>
          <a:ext cx="10111155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The </a:t>
          </a:r>
          <a:r>
            <a:rPr lang="de-DE" sz="2000" kern="1200" dirty="0" err="1"/>
            <a:t>strongest</a:t>
          </a:r>
          <a:r>
            <a:rPr lang="de-DE" sz="2000" kern="1200" dirty="0"/>
            <a:t> </a:t>
          </a:r>
          <a:r>
            <a:rPr lang="de-DE" sz="2000" kern="1200" dirty="0" err="1"/>
            <a:t>impact</a:t>
          </a:r>
          <a:r>
            <a:rPr lang="de-DE" sz="2000" kern="1200" dirty="0"/>
            <a:t> was </a:t>
          </a:r>
          <a:r>
            <a:rPr lang="de-DE" sz="2000" kern="1200" dirty="0" err="1"/>
            <a:t>from</a:t>
          </a:r>
          <a:r>
            <a:rPr lang="de-DE" sz="2000" kern="1200" dirty="0"/>
            <a:t> </a:t>
          </a:r>
          <a:r>
            <a:rPr lang="de-DE" sz="2000" kern="1200" dirty="0" err="1"/>
            <a:t>describing</a:t>
          </a:r>
          <a:r>
            <a:rPr lang="de-DE" sz="2000" kern="1200" dirty="0"/>
            <a:t> </a:t>
          </a:r>
          <a:r>
            <a:rPr lang="de-DE" sz="2000" kern="1200" dirty="0" err="1"/>
            <a:t>the</a:t>
          </a:r>
          <a:r>
            <a:rPr lang="de-DE" sz="2000" kern="1200" dirty="0"/>
            <a:t> </a:t>
          </a:r>
          <a:r>
            <a:rPr lang="de-DE" sz="2000" kern="1200" dirty="0" err="1"/>
            <a:t>tables</a:t>
          </a:r>
          <a:r>
            <a:rPr lang="de-DE" sz="2000" kern="1200" dirty="0"/>
            <a:t> </a:t>
          </a:r>
          <a:r>
            <a:rPr lang="de-DE" sz="2000" kern="1200" dirty="0" err="1"/>
            <a:t>to</a:t>
          </a:r>
          <a:r>
            <a:rPr lang="de-DE" sz="2000" kern="1200" dirty="0"/>
            <a:t> </a:t>
          </a:r>
          <a:r>
            <a:rPr lang="de-DE" sz="2000" kern="1200" dirty="0" err="1"/>
            <a:t>the</a:t>
          </a:r>
          <a:r>
            <a:rPr lang="de-DE" sz="2000" kern="1200" dirty="0"/>
            <a:t> </a:t>
          </a:r>
          <a:r>
            <a:rPr lang="de-DE" sz="2000" kern="1200" dirty="0" err="1"/>
            <a:t>model</a:t>
          </a:r>
          <a:r>
            <a:rPr lang="de-DE" sz="2000" kern="1200" dirty="0"/>
            <a:t> and </a:t>
          </a:r>
          <a:r>
            <a:rPr lang="de-DE" sz="2000" kern="1200" dirty="0" err="1"/>
            <a:t>adjusting</a:t>
          </a:r>
          <a:r>
            <a:rPr lang="de-DE" sz="2000" kern="1200" dirty="0"/>
            <a:t> </a:t>
          </a:r>
          <a:r>
            <a:rPr lang="de-DE" sz="2000" kern="1200" dirty="0" err="1"/>
            <a:t>the</a:t>
          </a:r>
          <a:r>
            <a:rPr lang="de-DE" sz="2000" kern="1200" dirty="0"/>
            <a:t> </a:t>
          </a:r>
          <a:r>
            <a:rPr lang="de-DE" sz="2000" kern="1200" dirty="0" err="1"/>
            <a:t>model</a:t>
          </a:r>
          <a:r>
            <a:rPr lang="de-DE" sz="2000" kern="1200" dirty="0"/>
            <a:t> </a:t>
          </a:r>
          <a:r>
            <a:rPr lang="de-DE" sz="2000" kern="1200" dirty="0" err="1"/>
            <a:t>from</a:t>
          </a:r>
          <a:r>
            <a:rPr lang="de-DE" sz="2000" kern="1200" dirty="0"/>
            <a:t> </a:t>
          </a:r>
          <a:r>
            <a:rPr lang="de-DE" sz="2000" kern="1200" dirty="0" err="1"/>
            <a:t>llama</a:t>
          </a:r>
          <a:r>
            <a:rPr lang="de-DE" sz="2000" kern="1200" dirty="0"/>
            <a:t> </a:t>
          </a:r>
          <a:r>
            <a:rPr lang="de-DE" sz="2000" kern="1200" dirty="0" err="1"/>
            <a:t>to</a:t>
          </a:r>
          <a:r>
            <a:rPr lang="de-DE" sz="2000" kern="1200" dirty="0"/>
            <a:t> </a:t>
          </a:r>
          <a:r>
            <a:rPr lang="de-DE" sz="2000" kern="1200" dirty="0" err="1"/>
            <a:t>qwen</a:t>
          </a:r>
          <a:endParaRPr lang="en-US" sz="2000" kern="1200" dirty="0"/>
        </a:p>
      </dsp:txBody>
      <dsp:txXfrm>
        <a:off x="38838" y="1390107"/>
        <a:ext cx="10033479" cy="717924"/>
      </dsp:txXfrm>
    </dsp:sp>
    <dsp:sp modelId="{FCF26537-BF41-714D-98E3-A66393AE860D}">
      <dsp:nvSpPr>
        <dsp:cNvPr id="0" name=""/>
        <dsp:cNvSpPr/>
      </dsp:nvSpPr>
      <dsp:spPr>
        <a:xfrm>
          <a:off x="0" y="2204469"/>
          <a:ext cx="10111155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/>
            <a:t>We wanted to prove that our model is not completly overfitting to the questions we optimezed it on and it reached 50% (9/18) which means it is not generalizing that well</a:t>
          </a:r>
          <a:endParaRPr lang="en-US" sz="2000" kern="1200"/>
        </a:p>
      </dsp:txBody>
      <dsp:txXfrm>
        <a:off x="38838" y="2243307"/>
        <a:ext cx="10033479" cy="717924"/>
      </dsp:txXfrm>
    </dsp:sp>
    <dsp:sp modelId="{65658E7B-E377-6C45-A5C9-23E64219D2CB}">
      <dsp:nvSpPr>
        <dsp:cNvPr id="0" name=""/>
        <dsp:cNvSpPr/>
      </dsp:nvSpPr>
      <dsp:spPr>
        <a:xfrm>
          <a:off x="0" y="3057669"/>
          <a:ext cx="10111155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In </a:t>
          </a:r>
          <a:r>
            <a:rPr lang="de-DE" sz="2000" kern="1200" dirty="0" err="1"/>
            <a:t>the</a:t>
          </a:r>
          <a:r>
            <a:rPr lang="de-DE" sz="2000" kern="1200" dirty="0"/>
            <a:t> </a:t>
          </a:r>
          <a:r>
            <a:rPr lang="de-DE" sz="2000" kern="1200" dirty="0" err="1"/>
            <a:t>future</a:t>
          </a:r>
          <a:r>
            <a:rPr lang="de-DE" sz="2000" kern="1200" dirty="0"/>
            <a:t> </a:t>
          </a:r>
          <a:r>
            <a:rPr lang="de-DE" sz="2000" kern="1200" dirty="0" err="1"/>
            <a:t>we</a:t>
          </a:r>
          <a:r>
            <a:rPr lang="de-DE" sz="2000" kern="1200" dirty="0"/>
            <a:t> </a:t>
          </a:r>
          <a:r>
            <a:rPr lang="de-DE" sz="2000" kern="1200" dirty="0" err="1"/>
            <a:t>would</a:t>
          </a:r>
          <a:r>
            <a:rPr lang="de-DE" sz="2000" kern="1200" dirty="0"/>
            <a:t> like </a:t>
          </a:r>
          <a:r>
            <a:rPr lang="de-DE" sz="2000" kern="1200" dirty="0" err="1"/>
            <a:t>to</a:t>
          </a:r>
          <a:r>
            <a:rPr lang="de-DE" sz="2000" kern="1200" dirty="0"/>
            <a:t> </a:t>
          </a:r>
          <a:r>
            <a:rPr lang="de-DE" sz="2000" kern="1200" dirty="0" err="1"/>
            <a:t>optimize</a:t>
          </a:r>
          <a:r>
            <a:rPr lang="de-DE" sz="2000" kern="1200" dirty="0"/>
            <a:t> on </a:t>
          </a:r>
          <a:r>
            <a:rPr lang="de-DE" sz="2000" kern="1200" dirty="0" err="1"/>
            <a:t>parameters</a:t>
          </a:r>
          <a:r>
            <a:rPr lang="de-DE" sz="2000" kern="1200" dirty="0"/>
            <a:t> </a:t>
          </a:r>
          <a:r>
            <a:rPr lang="de-DE" sz="2000" kern="1200" dirty="0" err="1"/>
            <a:t>that</a:t>
          </a:r>
          <a:r>
            <a:rPr lang="de-DE" sz="2000" kern="1200" dirty="0"/>
            <a:t> </a:t>
          </a:r>
          <a:r>
            <a:rPr lang="de-DE" sz="2000" kern="1200" dirty="0" err="1"/>
            <a:t>are</a:t>
          </a:r>
          <a:r>
            <a:rPr lang="de-DE" sz="2000" kern="1200" dirty="0"/>
            <a:t> </a:t>
          </a:r>
          <a:r>
            <a:rPr lang="de-DE" sz="2000" kern="1200" dirty="0" err="1"/>
            <a:t>generalizing</a:t>
          </a:r>
          <a:r>
            <a:rPr lang="de-DE" sz="2000" kern="1200" dirty="0"/>
            <a:t>, </a:t>
          </a:r>
          <a:r>
            <a:rPr lang="de-DE" sz="2000" kern="1200" dirty="0" err="1"/>
            <a:t>meaning</a:t>
          </a:r>
          <a:r>
            <a:rPr lang="de-DE" sz="2000" kern="1200" dirty="0"/>
            <a:t> </a:t>
          </a:r>
          <a:r>
            <a:rPr lang="de-DE" sz="2000" kern="1200" dirty="0" err="1"/>
            <a:t>to</a:t>
          </a:r>
          <a:r>
            <a:rPr lang="de-DE" sz="2000" kern="1200" dirty="0"/>
            <a:t> </a:t>
          </a:r>
          <a:r>
            <a:rPr lang="de-DE" sz="2000" kern="1200" dirty="0" err="1"/>
            <a:t>evaluate</a:t>
          </a:r>
          <a:r>
            <a:rPr lang="de-DE" sz="2000" kern="1200" dirty="0"/>
            <a:t> different </a:t>
          </a:r>
          <a:r>
            <a:rPr lang="de-DE" sz="2000" kern="1200" dirty="0" err="1"/>
            <a:t>test</a:t>
          </a:r>
          <a:r>
            <a:rPr lang="de-DE" sz="2000" kern="1200" dirty="0"/>
            <a:t> </a:t>
          </a:r>
          <a:r>
            <a:rPr lang="de-DE" sz="2000" kern="1200" dirty="0" err="1"/>
            <a:t>sets</a:t>
          </a:r>
          <a:r>
            <a:rPr lang="de-DE" sz="2000" kern="1200" dirty="0"/>
            <a:t> at </a:t>
          </a:r>
          <a:r>
            <a:rPr lang="de-DE" sz="2000" kern="1200" dirty="0" err="1"/>
            <a:t>the</a:t>
          </a:r>
          <a:r>
            <a:rPr lang="de-DE" sz="2000" kern="1200" dirty="0"/>
            <a:t> same time </a:t>
          </a:r>
          <a:r>
            <a:rPr lang="de-DE" sz="2000" kern="1200" dirty="0" err="1"/>
            <a:t>to</a:t>
          </a:r>
          <a:r>
            <a:rPr lang="de-DE" sz="2000" kern="1200" dirty="0"/>
            <a:t> check </a:t>
          </a:r>
          <a:r>
            <a:rPr lang="de-DE" sz="2000" kern="1200" dirty="0" err="1"/>
            <a:t>if</a:t>
          </a:r>
          <a:r>
            <a:rPr lang="de-DE" sz="2000" kern="1200" dirty="0"/>
            <a:t> </a:t>
          </a:r>
          <a:r>
            <a:rPr lang="de-DE" sz="2000" kern="1200" dirty="0" err="1"/>
            <a:t>we</a:t>
          </a:r>
          <a:r>
            <a:rPr lang="de-DE" sz="2000" kern="1200" dirty="0"/>
            <a:t> </a:t>
          </a:r>
          <a:r>
            <a:rPr lang="de-DE" sz="2000" kern="1200" dirty="0" err="1"/>
            <a:t>reached</a:t>
          </a:r>
          <a:r>
            <a:rPr lang="de-DE" sz="2000" kern="1200" dirty="0"/>
            <a:t> </a:t>
          </a:r>
          <a:r>
            <a:rPr lang="de-DE" sz="2000" kern="1200" dirty="0" err="1"/>
            <a:t>better</a:t>
          </a:r>
          <a:r>
            <a:rPr lang="de-DE" sz="2000" kern="1200" dirty="0"/>
            <a:t> </a:t>
          </a:r>
          <a:r>
            <a:rPr lang="de-DE" sz="2000" kern="1200" dirty="0" err="1"/>
            <a:t>scores</a:t>
          </a:r>
          <a:r>
            <a:rPr lang="de-DE" sz="2000" kern="1200" dirty="0"/>
            <a:t> in </a:t>
          </a:r>
          <a:r>
            <a:rPr lang="de-DE" sz="2000" kern="1200" dirty="0" err="1"/>
            <a:t>general</a:t>
          </a:r>
          <a:endParaRPr lang="en-US" sz="2000" kern="1200" dirty="0"/>
        </a:p>
      </dsp:txBody>
      <dsp:txXfrm>
        <a:off x="38838" y="3096507"/>
        <a:ext cx="10033479" cy="7179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40988C-BBB2-3A42-8898-F774E2AA35B7}" type="datetimeFigureOut">
              <a:rPr lang="de-DE" smtClean="0"/>
              <a:t>15.05.26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AE7357-186D-1741-AC65-6D5045F5A14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1876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E7357-186D-1741-AC65-6D5045F5A14B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21154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with</a:t>
            </a:r>
            <a:r>
              <a:rPr lang="de-DE" dirty="0"/>
              <a:t> Input, </a:t>
            </a:r>
            <a:r>
              <a:rPr lang="de-DE" dirty="0" err="1"/>
              <a:t>Generated</a:t>
            </a:r>
            <a:r>
              <a:rPr lang="de-DE" dirty="0"/>
              <a:t> SQL, and </a:t>
            </a:r>
            <a:r>
              <a:rPr lang="de-DE" dirty="0" err="1"/>
              <a:t>Result</a:t>
            </a:r>
            <a:r>
              <a:rPr lang="de-DE" dirty="0"/>
              <a:t>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E7357-186D-1741-AC65-6D5045F5A14B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3867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B02E78-12AD-D096-14A6-705454B8E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7CFE06E-E3E3-8190-557E-CA6B7D24AD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2007415-95C0-ADF6-BF1E-81623BBF3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1D3F2-986D-2246-ACEA-731AA1390683}" type="datetimeFigureOut">
              <a:rPr lang="de-DE" smtClean="0"/>
              <a:t>15.05.26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4D5C6CC-4C48-2059-91AE-C6419CFDF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70D934-708A-02A1-FAA7-4E546C651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3751F-37BF-D74F-B69D-3AF8A8D5C55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0972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121727-6DA7-83C4-15B0-48D3BCDC5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563CF11-D0D1-55FC-2A9E-E5B4239A3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B32C427-EBA0-6588-26EC-6BD94A41E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1D3F2-986D-2246-ACEA-731AA1390683}" type="datetimeFigureOut">
              <a:rPr lang="de-DE" smtClean="0"/>
              <a:t>15.05.26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632EB2E-8904-68AC-4141-E4BBD33CD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BFD955A-76CB-D4D9-63C6-377A2D5D8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3751F-37BF-D74F-B69D-3AF8A8D5C55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5766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665B1A-776A-CD5C-68FE-B2D4199F8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829B802-9DC2-5093-D132-E7B634E7B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B170FC6-BDB1-7B9E-E17C-36C7445A8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1D3F2-986D-2246-ACEA-731AA1390683}" type="datetimeFigureOut">
              <a:rPr lang="de-DE" smtClean="0"/>
              <a:t>15.05.26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A074DB6-9E82-74E1-53D2-A956497B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FADD12-AE26-C1C5-A31D-F3DAA4927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3751F-37BF-D74F-B69D-3AF8A8D5C55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18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59BD7E-C053-4E20-DA66-656FE9B68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C3E682-9953-9ED7-B4CA-22D5F47FB4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3608995-66BD-9D50-36F7-6CFB70764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6D4D49-8A13-5A9A-4CD8-93DBBEDDD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1D3F2-986D-2246-ACEA-731AA1390683}" type="datetimeFigureOut">
              <a:rPr lang="de-DE" smtClean="0"/>
              <a:t>15.05.26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AB3445C-3CC1-BDD5-0DA0-32B8F1EB0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106399B-0E26-6A52-7B7C-1CC84021B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3751F-37BF-D74F-B69D-3AF8A8D5C55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1685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8B6F68-4F71-603F-457B-98C3A8F73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276066D-7899-E5C4-2CB7-9945FD450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37C4941-5768-5676-8B15-85612ABD62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5BFF315-E76C-CD46-1447-98E09CD5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A842010-3B32-8116-8464-409CA948E1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7ACB152-2142-EB0C-8103-EDAA46C79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1D3F2-986D-2246-ACEA-731AA1390683}" type="datetimeFigureOut">
              <a:rPr lang="de-DE" smtClean="0"/>
              <a:t>15.05.26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7BB6191-181E-698D-3B9C-D5EDBD2D2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341113B-6E7A-2611-21F5-EA371FDB3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3751F-37BF-D74F-B69D-3AF8A8D5C55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6138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56F0F3-4B25-A656-1DCA-3FE73636C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021AE44-1F36-8220-2170-AC4741645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1D3F2-986D-2246-ACEA-731AA1390683}" type="datetimeFigureOut">
              <a:rPr lang="de-DE" smtClean="0"/>
              <a:t>15.05.26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15932BF-812D-E078-F413-3B17A9F4A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AFCEE7E-D82C-D233-5A6A-31343701F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3751F-37BF-D74F-B69D-3AF8A8D5C55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8861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1A22DB1-A5B2-32F1-5FD1-A556BFA83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1D3F2-986D-2246-ACEA-731AA1390683}" type="datetimeFigureOut">
              <a:rPr lang="de-DE" smtClean="0"/>
              <a:t>15.05.26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726E7BC-7B22-92CC-9CF5-AA111A50A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6CB4E85-29C9-87F9-F2C6-BCAC550B1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3751F-37BF-D74F-B69D-3AF8A8D5C55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0028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078E88-4A5C-3873-0C4E-34651F2BA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FD98EB-C24C-D7C0-1460-87A68DACC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876A193-4786-E291-7149-296E43566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C77B1D6-4EA6-A61A-EDBD-1F0A77C94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1D3F2-986D-2246-ACEA-731AA1390683}" type="datetimeFigureOut">
              <a:rPr lang="de-DE" smtClean="0"/>
              <a:t>15.05.26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7EA85D8-73F7-2FCA-02EE-9A4805483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6CC95DA-D206-7243-C69D-76F063E51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3751F-37BF-D74F-B69D-3AF8A8D5C55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6308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E260FF-B9D4-4EAE-29F8-47BABA57A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3BB75D9-2DA6-9796-2E81-33AE5FCCC6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7524F0E-307A-A8EC-B368-DA647E8717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2351943-B8E4-A7ED-6D76-2D7618EA6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1D3F2-986D-2246-ACEA-731AA1390683}" type="datetimeFigureOut">
              <a:rPr lang="de-DE" smtClean="0"/>
              <a:t>15.05.26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18E3C26-9995-7BEF-3636-701B85304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683E5F6-A2C3-4132-C3B0-08B78D2AD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3751F-37BF-D74F-B69D-3AF8A8D5C55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8040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98DF37-EF77-20AE-8097-E74F2B067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8A4F0F1-969E-38E6-9C27-A338BD1A7D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6EC75B-8128-BA56-A88F-CC1A0B5C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1D3F2-986D-2246-ACEA-731AA1390683}" type="datetimeFigureOut">
              <a:rPr lang="de-DE" smtClean="0"/>
              <a:t>15.05.26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7CEFAF-92AD-CB84-CBC9-BAE2141E7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F54BD7-2D23-886A-4A0B-DE362C274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3751F-37BF-D74F-B69D-3AF8A8D5C55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7300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5BC8652-010B-0E25-A94B-C45295CB4B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02FEC3D-5D2F-26A9-9968-0D87A64FB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5FD6412-EB7D-EA52-2E47-E9AFDCF01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1D3F2-986D-2246-ACEA-731AA1390683}" type="datetimeFigureOut">
              <a:rPr lang="de-DE" smtClean="0"/>
              <a:t>15.05.26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588D222-CB05-8A0A-0E75-87DF0A8E7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77531FB-9AEF-338C-CD48-6166517AC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3751F-37BF-D74F-B69D-3AF8A8D5C55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9682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EDA4F35-E512-05BD-2964-E5522F653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421C280-CF64-82B7-7BEE-6CCEC6FD8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7C22412-D82C-7321-B268-105184A82A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D1D3F2-986D-2246-ACEA-731AA1390683}" type="datetimeFigureOut">
              <a:rPr lang="de-DE" smtClean="0"/>
              <a:t>15.05.26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648DD2F-525D-A163-9586-035B9E9ACA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76A82D5-4F04-DA4B-9DD0-4A46E18855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3751F-37BF-D74F-B69D-3AF8A8D5C55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7075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joern555/dwh2-text-to-sql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5D04CC0-71F4-60DD-5100-B281B6726F6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881"/>
          <a:stretch>
            <a:fillRect/>
          </a:stretch>
        </p:blipFill>
        <p:spPr>
          <a:xfrm>
            <a:off x="0" y="-1"/>
            <a:ext cx="12191980" cy="68579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98E9CB-4201-8229-9266-1C9FDAA22A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de-DE">
                <a:solidFill>
                  <a:srgbClr val="FFFFFF"/>
                </a:solidFill>
              </a:rPr>
              <a:t>DWH2 Final Projekt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5383FCC-0A2F-C626-64CE-15ECC5039D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2043"/>
            <a:ext cx="9144000" cy="1098395"/>
          </a:xfrm>
        </p:spPr>
        <p:txBody>
          <a:bodyPr>
            <a:normAutofit lnSpcReduction="10000"/>
          </a:bodyPr>
          <a:lstStyle/>
          <a:p>
            <a:br>
              <a:rPr lang="de-DE" sz="1700" dirty="0">
                <a:solidFill>
                  <a:srgbClr val="FFFFFF"/>
                </a:solidFill>
              </a:rPr>
            </a:br>
            <a:r>
              <a:rPr lang="de-DE" sz="1700" dirty="0">
                <a:solidFill>
                  <a:srgbClr val="FFFFFF"/>
                </a:solidFill>
              </a:rPr>
              <a:t>- Johnson Michal, Kryeziu Leona, Wagner Björn -</a:t>
            </a:r>
            <a:br>
              <a:rPr lang="de-DE" sz="1700" dirty="0">
                <a:solidFill>
                  <a:srgbClr val="FFFFFF"/>
                </a:solidFill>
              </a:rPr>
            </a:br>
            <a:endParaRPr lang="de-DE" sz="1700" dirty="0">
              <a:solidFill>
                <a:srgbClr val="FFFFFF"/>
              </a:solidFill>
            </a:endParaRPr>
          </a:p>
          <a:p>
            <a:r>
              <a:rPr lang="de-DE" sz="17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https://github.com/bjoern555/dwh2-text-to-sql</a:t>
            </a:r>
            <a:endParaRPr lang="de-DE" sz="1700"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96AC864-0C12-848D-5F81-FA175F0200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7325" y="4999567"/>
            <a:ext cx="473077" cy="4730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DE1C58A-F154-1008-11B4-06C58776F4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600" y="4999567"/>
            <a:ext cx="473077" cy="473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9462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9896AB-2B98-91F9-E72E-889CB44D4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3910"/>
          </a:xfrm>
        </p:spPr>
        <p:txBody>
          <a:bodyPr>
            <a:normAutofit/>
          </a:bodyPr>
          <a:lstStyle/>
          <a:p>
            <a:r>
              <a:rPr lang="de-DE" sz="4000" dirty="0"/>
              <a:t>Dataset Choice &amp; Rationale 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C1F74A9D-0266-366D-717F-903D76FDBB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2905444"/>
              </p:ext>
            </p:extLst>
          </p:nvPr>
        </p:nvGraphicFramePr>
        <p:xfrm>
          <a:off x="838200" y="1406175"/>
          <a:ext cx="10515600" cy="2498562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558615560"/>
                    </a:ext>
                  </a:extLst>
                </a:gridCol>
                <a:gridCol w="2032686">
                  <a:extLst>
                    <a:ext uri="{9D8B030D-6E8A-4147-A177-3AD203B41FA5}">
                      <a16:colId xmlns:a16="http://schemas.microsoft.com/office/drawing/2014/main" val="3560744013"/>
                    </a:ext>
                  </a:extLst>
                </a:gridCol>
                <a:gridCol w="4977714">
                  <a:extLst>
                    <a:ext uri="{9D8B030D-6E8A-4147-A177-3AD203B41FA5}">
                      <a16:colId xmlns:a16="http://schemas.microsoft.com/office/drawing/2014/main" val="548822258"/>
                    </a:ext>
                  </a:extLst>
                </a:gridCol>
              </a:tblGrid>
              <a:tr h="4164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800" b="1" dirty="0" err="1"/>
                        <a:t>Difficulty</a:t>
                      </a:r>
                      <a:endParaRPr lang="de-CH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800" b="1"/>
                        <a:t>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800" b="1" dirty="0"/>
                        <a:t>Question IDs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2151298"/>
                  </a:ext>
                </a:extLst>
              </a:tr>
              <a:tr h="4164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800" dirty="0"/>
                        <a:t>Easy 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8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800"/>
                        <a:t>779, 268, 297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1696128"/>
                  </a:ext>
                </a:extLst>
              </a:tr>
              <a:tr h="4164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800" dirty="0"/>
                        <a:t>Medium 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8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800"/>
                        <a:t>89, 506, 708, 569, 861, 605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5042848"/>
                  </a:ext>
                </a:extLst>
              </a:tr>
              <a:tr h="4164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800" dirty="0"/>
                        <a:t>Hard 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8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800"/>
                        <a:t>94, 155, 259, 426, 534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4393235"/>
                  </a:ext>
                </a:extLst>
              </a:tr>
              <a:tr h="4164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800" dirty="0"/>
                        <a:t>Extra 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8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800" dirty="0"/>
                        <a:t>120, 284, 551, 591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2172329"/>
                  </a:ext>
                </a:extLst>
              </a:tr>
              <a:tr h="4164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800" b="1" dirty="0"/>
                        <a:t>Total</a:t>
                      </a:r>
                      <a:endParaRPr lang="de-CH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800" b="1" dirty="0"/>
                        <a:t>18</a:t>
                      </a:r>
                      <a:endParaRPr lang="de-CH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800" b="1" dirty="0"/>
                        <a:t>9 🟢🟠  | 9 🔴🟣  =&gt; 50/50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655336"/>
                  </a:ext>
                </a:extLst>
              </a:tr>
            </a:tbl>
          </a:graphicData>
        </a:graphic>
      </p:graphicFrame>
      <p:sp>
        <p:nvSpPr>
          <p:cNvPr id="5" name="Textfeld 4">
            <a:extLst>
              <a:ext uri="{FF2B5EF4-FFF2-40B4-BE49-F238E27FC236}">
                <a16:creationId xmlns:a16="http://schemas.microsoft.com/office/drawing/2014/main" id="{EA866D39-B20D-A32F-B5CC-151FEADA5123}"/>
              </a:ext>
            </a:extLst>
          </p:cNvPr>
          <p:cNvSpPr txBox="1"/>
          <p:nvPr/>
        </p:nvSpPr>
        <p:spPr>
          <a:xfrm>
            <a:off x="838200" y="4396596"/>
            <a:ext cx="521264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b="1" dirty="0"/>
              <a:t>Why </a:t>
            </a:r>
            <a:r>
              <a:rPr lang="de-CH" b="1" dirty="0" err="1"/>
              <a:t>FootballDB</a:t>
            </a:r>
            <a:r>
              <a:rPr lang="de-CH" b="1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 err="1"/>
              <a:t>Universally</a:t>
            </a:r>
            <a:r>
              <a:rPr lang="de-CH" dirty="0"/>
              <a:t> </a:t>
            </a:r>
            <a:r>
              <a:rPr lang="de-CH" dirty="0" err="1"/>
              <a:t>familiar</a:t>
            </a:r>
            <a:r>
              <a:rPr lang="de-CH" dirty="0"/>
              <a:t> </a:t>
            </a:r>
            <a:r>
              <a:rPr lang="de-CH" dirty="0" err="1"/>
              <a:t>domain</a:t>
            </a:r>
            <a:endParaRPr lang="de-CH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Query </a:t>
            </a:r>
            <a:r>
              <a:rPr lang="de-CH" dirty="0" err="1"/>
              <a:t>results</a:t>
            </a:r>
            <a:r>
              <a:rPr lang="de-CH" dirty="0"/>
              <a:t> </a:t>
            </a:r>
            <a:r>
              <a:rPr lang="de-CH" dirty="0" err="1"/>
              <a:t>can</a:t>
            </a:r>
            <a:r>
              <a:rPr lang="de-CH" dirty="0"/>
              <a:t> </a:t>
            </a:r>
            <a:r>
              <a:rPr lang="de-CH" dirty="0" err="1"/>
              <a:t>be</a:t>
            </a:r>
            <a:r>
              <a:rPr lang="de-CH" dirty="0"/>
              <a:t> </a:t>
            </a:r>
            <a:r>
              <a:rPr lang="de-CH" dirty="0" err="1"/>
              <a:t>validated</a:t>
            </a:r>
            <a:r>
              <a:rPr lang="de-CH" dirty="0"/>
              <a:t> </a:t>
            </a:r>
            <a:r>
              <a:rPr lang="de-CH" dirty="0" err="1"/>
              <a:t>intuitively</a:t>
            </a:r>
            <a:endParaRPr lang="de-CH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 err="1"/>
              <a:t>No</a:t>
            </a:r>
            <a:r>
              <a:rPr lang="de-CH" dirty="0"/>
              <a:t> </a:t>
            </a:r>
            <a:r>
              <a:rPr lang="de-CH" dirty="0" err="1"/>
              <a:t>need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study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database</a:t>
            </a:r>
            <a:r>
              <a:rPr lang="de-CH" dirty="0"/>
              <a:t> </a:t>
            </a:r>
            <a:r>
              <a:rPr lang="de-CH" dirty="0" err="1"/>
              <a:t>schema</a:t>
            </a:r>
            <a:r>
              <a:rPr lang="de-CH" dirty="0"/>
              <a:t> in </a:t>
            </a:r>
            <a:r>
              <a:rPr lang="de-CH" dirty="0" err="1"/>
              <a:t>depth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92760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6A03E301-4070-86A9-0C6C-6E336A5E60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7213" y="365126"/>
            <a:ext cx="5865308" cy="6322741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38F12A3-D4B0-192E-EFDC-D76052B96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14310"/>
            <a:ext cx="6307735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e-CH" sz="1800" b="1" dirty="0"/>
              <a:t>LLM</a:t>
            </a:r>
            <a:endParaRPr lang="de-CH" sz="1800" dirty="0"/>
          </a:p>
          <a:p>
            <a:r>
              <a:rPr lang="de-CH" sz="1800" dirty="0" err="1"/>
              <a:t>Local</a:t>
            </a:r>
            <a:r>
              <a:rPr lang="de-CH" sz="1800" dirty="0"/>
              <a:t> </a:t>
            </a:r>
            <a:r>
              <a:rPr lang="de-CH" sz="1800" dirty="0" err="1"/>
              <a:t>Ollama</a:t>
            </a:r>
            <a:r>
              <a:rPr lang="de-CH" sz="1800" dirty="0"/>
              <a:t> </a:t>
            </a:r>
            <a:r>
              <a:rPr lang="de-CH" sz="1800" dirty="0" err="1"/>
              <a:t>with</a:t>
            </a:r>
            <a:r>
              <a:rPr lang="de-CH" sz="1800" dirty="0"/>
              <a:t> </a:t>
            </a:r>
            <a:r>
              <a:rPr lang="de-CH" sz="1800" i="1" dirty="0">
                <a:solidFill>
                  <a:srgbClr val="00B0F0"/>
                </a:solidFill>
              </a:rPr>
              <a:t>llama3.2:1b</a:t>
            </a:r>
            <a:r>
              <a:rPr lang="de-CH" sz="1800" dirty="0"/>
              <a:t> </a:t>
            </a:r>
            <a:r>
              <a:rPr lang="de-CH" sz="1800" dirty="0" err="1"/>
              <a:t>or</a:t>
            </a:r>
            <a:r>
              <a:rPr lang="de-CH" sz="1800" dirty="0"/>
              <a:t> </a:t>
            </a:r>
            <a:r>
              <a:rPr lang="de-CH" sz="1800" i="1" dirty="0">
                <a:solidFill>
                  <a:srgbClr val="00B0F0"/>
                </a:solidFill>
              </a:rPr>
              <a:t>OpenAI gpt-4o-mini</a:t>
            </a:r>
          </a:p>
          <a:p>
            <a:r>
              <a:rPr lang="de-CH" sz="1800" dirty="0" err="1"/>
              <a:t>Configurable</a:t>
            </a:r>
            <a:r>
              <a:rPr lang="de-CH" sz="1800" dirty="0"/>
              <a:t> via .</a:t>
            </a:r>
            <a:r>
              <a:rPr lang="de-CH" sz="1800" dirty="0" err="1"/>
              <a:t>env</a:t>
            </a:r>
            <a:r>
              <a:rPr lang="de-CH" sz="1800" dirty="0"/>
              <a:t>  </a:t>
            </a:r>
          </a:p>
          <a:p>
            <a:pPr marL="0" indent="0">
              <a:buNone/>
            </a:pPr>
            <a:r>
              <a:rPr lang="de-CH" sz="1800" dirty="0"/>
              <a:t>     (LLM_PROVIDER, OLLAMA_MODEL, OPENAI_MODEL)</a:t>
            </a:r>
          </a:p>
          <a:p>
            <a:endParaRPr lang="de-CH" sz="1800" dirty="0"/>
          </a:p>
          <a:p>
            <a:pPr marL="0" indent="0">
              <a:buNone/>
            </a:pPr>
            <a:r>
              <a:rPr lang="de-CH" sz="1800" b="1" dirty="0"/>
              <a:t>Database</a:t>
            </a:r>
            <a:endParaRPr lang="de-CH" sz="1800" dirty="0"/>
          </a:p>
          <a:p>
            <a:r>
              <a:rPr lang="de-CH" sz="1800" dirty="0"/>
              <a:t>PostgreSQL, Schema exp_v3, </a:t>
            </a:r>
            <a:r>
              <a:rPr lang="de-CH" sz="1800" dirty="0" err="1"/>
              <a:t>hosted</a:t>
            </a:r>
            <a:r>
              <a:rPr lang="de-CH" sz="1800" dirty="0"/>
              <a:t> on ZHAW-Server</a:t>
            </a:r>
          </a:p>
          <a:p>
            <a:r>
              <a:rPr lang="de-CH" sz="1800" dirty="0"/>
              <a:t>Connection via </a:t>
            </a:r>
            <a:r>
              <a:rPr lang="de-CH" sz="1800" dirty="0" err="1"/>
              <a:t>LangChain</a:t>
            </a:r>
            <a:r>
              <a:rPr lang="de-CH" sz="1800" dirty="0"/>
              <a:t> </a:t>
            </a:r>
            <a:r>
              <a:rPr lang="de-CH" sz="1800" dirty="0" err="1"/>
              <a:t>SQLDatabase</a:t>
            </a:r>
            <a:endParaRPr lang="de-CH" sz="1800" dirty="0"/>
          </a:p>
          <a:p>
            <a:pPr marL="0" indent="0">
              <a:buNone/>
            </a:pPr>
            <a:endParaRPr lang="de-CH" sz="1800" b="1" dirty="0"/>
          </a:p>
          <a:p>
            <a:pPr marL="0" indent="0">
              <a:buNone/>
            </a:pPr>
            <a:r>
              <a:rPr lang="de-CH" sz="1800" b="1" dirty="0"/>
              <a:t>Evaluation </a:t>
            </a:r>
            <a:r>
              <a:rPr lang="de-CH" sz="1800" b="1" dirty="0" err="1"/>
              <a:t>Metric</a:t>
            </a:r>
            <a:endParaRPr lang="de-CH" sz="1800" dirty="0"/>
          </a:p>
          <a:p>
            <a:r>
              <a:rPr lang="de-CH" sz="1800" dirty="0" err="1"/>
              <a:t>Execution</a:t>
            </a:r>
            <a:r>
              <a:rPr lang="de-CH" sz="1800" dirty="0"/>
              <a:t> </a:t>
            </a:r>
            <a:r>
              <a:rPr lang="de-CH" sz="1800" dirty="0" err="1"/>
              <a:t>Accuracy</a:t>
            </a:r>
            <a:r>
              <a:rPr lang="de-CH" sz="1800" dirty="0"/>
              <a:t>: </a:t>
            </a:r>
            <a:r>
              <a:rPr lang="de-CH" sz="1800" dirty="0" err="1"/>
              <a:t>Predicted</a:t>
            </a:r>
            <a:r>
              <a:rPr lang="de-CH" sz="1800" dirty="0"/>
              <a:t> </a:t>
            </a:r>
            <a:r>
              <a:rPr lang="de-CH" sz="1800" dirty="0" err="1"/>
              <a:t>result</a:t>
            </a:r>
            <a:r>
              <a:rPr lang="de-CH" sz="1800" dirty="0"/>
              <a:t> == Gold </a:t>
            </a:r>
            <a:r>
              <a:rPr lang="de-CH" sz="1800" dirty="0" err="1"/>
              <a:t>result</a:t>
            </a:r>
            <a:r>
              <a:rPr lang="de-CH" sz="1800" dirty="0"/>
              <a:t> </a:t>
            </a:r>
          </a:p>
          <a:p>
            <a:pPr marL="0" indent="0">
              <a:buNone/>
            </a:pPr>
            <a:r>
              <a:rPr lang="de-CH" sz="1800" dirty="0"/>
              <a:t>     (</a:t>
            </a:r>
            <a:r>
              <a:rPr lang="de-CH" sz="1800" dirty="0" err="1"/>
              <a:t>exact</a:t>
            </a:r>
            <a:r>
              <a:rPr lang="de-CH" sz="1800" dirty="0"/>
              <a:t> match)</a:t>
            </a:r>
          </a:p>
          <a:p>
            <a:r>
              <a:rPr lang="de-CH" sz="1800" dirty="0"/>
              <a:t>Test Set: 18 Questions (Easy 3 / Medium 6 / Hard 5 / Extra 4)</a:t>
            </a:r>
          </a:p>
          <a:p>
            <a:pPr marL="0" indent="0">
              <a:buNone/>
            </a:pPr>
            <a:br>
              <a:rPr lang="de-CH" sz="1800" dirty="0"/>
            </a:br>
            <a:endParaRPr lang="de-CH" sz="1800" dirty="0"/>
          </a:p>
          <a:p>
            <a:endParaRPr lang="de-DE" sz="1800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536EB747-3FE4-42F9-17A2-1AB137822923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843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/>
              <a:t>System Architecture / Setup </a:t>
            </a:r>
            <a:endParaRPr lang="de-DE" sz="4000" dirty="0"/>
          </a:p>
        </p:txBody>
      </p:sp>
    </p:spTree>
    <p:extLst>
      <p:ext uri="{BB962C8B-B14F-4D97-AF65-F5344CB8AC3E}">
        <p14:creationId xmlns:p14="http://schemas.microsoft.com/office/powerpoint/2010/main" val="970026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8DFFC567-5210-8362-4880-A3C20F552C27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843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dirty="0"/>
              <a:t>Query </a:t>
            </a:r>
            <a:r>
              <a:rPr lang="de-DE" sz="4000" dirty="0" err="1"/>
              <a:t>Examples</a:t>
            </a:r>
            <a:r>
              <a:rPr lang="de-DE" sz="4000" dirty="0"/>
              <a:t> - 1/3 </a:t>
            </a:r>
            <a:r>
              <a:rPr lang="de-DE" sz="4000" dirty="0" err="1"/>
              <a:t>correct</a:t>
            </a:r>
            <a:r>
              <a:rPr lang="de-DE" sz="4000" dirty="0"/>
              <a:t> 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EFCC4C4-40C6-6EBD-9E38-D64CDAE779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228" t="12637" r="2344" b="9083"/>
          <a:stretch>
            <a:fillRect/>
          </a:stretch>
        </p:blipFill>
        <p:spPr>
          <a:xfrm>
            <a:off x="2708030" y="1209036"/>
            <a:ext cx="7561385" cy="5505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947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E48C804D-1D92-8743-183B-2C02ED152C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4981" b="33950"/>
          <a:stretch>
            <a:fillRect/>
          </a:stretch>
        </p:blipFill>
        <p:spPr>
          <a:xfrm>
            <a:off x="880572" y="1524191"/>
            <a:ext cx="10897772" cy="4593395"/>
          </a:xfrm>
          <a:prstGeom prst="rect">
            <a:avLst/>
          </a:prstGeom>
        </p:spPr>
      </p:pic>
      <p:sp>
        <p:nvSpPr>
          <p:cNvPr id="3" name="Titel 1">
            <a:extLst>
              <a:ext uri="{FF2B5EF4-FFF2-40B4-BE49-F238E27FC236}">
                <a16:creationId xmlns:a16="http://schemas.microsoft.com/office/drawing/2014/main" id="{00A15A76-03CC-A643-3E2F-0BE78D8ED2F3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843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dirty="0" err="1"/>
              <a:t>Execution</a:t>
            </a:r>
            <a:r>
              <a:rPr lang="de-DE" sz="4000" dirty="0"/>
              <a:t> </a:t>
            </a:r>
            <a:r>
              <a:rPr lang="de-DE" sz="4000" dirty="0" err="1"/>
              <a:t>Accuracy</a:t>
            </a:r>
            <a:r>
              <a:rPr lang="de-DE" sz="4000" dirty="0"/>
              <a:t> </a:t>
            </a:r>
            <a:r>
              <a:rPr lang="de-DE" sz="4000" dirty="0" err="1"/>
              <a:t>Results</a:t>
            </a:r>
            <a:r>
              <a:rPr lang="de-DE" sz="4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32087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35FEAA-D7AE-AD4D-00B7-CABF44CE8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869943"/>
          </a:xfrm>
        </p:spPr>
        <p:txBody>
          <a:bodyPr>
            <a:normAutofit/>
          </a:bodyPr>
          <a:lstStyle/>
          <a:p>
            <a:r>
              <a:rPr lang="de-CH" sz="1800" dirty="0"/>
              <a:t>The 1B </a:t>
            </a:r>
            <a:r>
              <a:rPr lang="de-CH" sz="1800" dirty="0" err="1"/>
              <a:t>model</a:t>
            </a:r>
            <a:r>
              <a:rPr lang="de-CH" sz="1800" dirty="0"/>
              <a:t> </a:t>
            </a:r>
            <a:r>
              <a:rPr lang="de-CH" sz="1800" dirty="0" err="1"/>
              <a:t>fails</a:t>
            </a:r>
            <a:r>
              <a:rPr lang="de-CH" sz="1800" dirty="0"/>
              <a:t> </a:t>
            </a:r>
            <a:r>
              <a:rPr lang="de-CH" sz="1800" dirty="0" err="1"/>
              <a:t>almost</a:t>
            </a:r>
            <a:r>
              <a:rPr lang="de-CH" sz="1800" dirty="0"/>
              <a:t> </a:t>
            </a:r>
            <a:r>
              <a:rPr lang="de-CH" sz="1800" dirty="0" err="1"/>
              <a:t>entirely</a:t>
            </a:r>
            <a:r>
              <a:rPr lang="de-CH" sz="1800" dirty="0"/>
              <a:t> at </a:t>
            </a:r>
            <a:r>
              <a:rPr lang="de-CH" sz="1800" dirty="0" err="1"/>
              <a:t>the</a:t>
            </a:r>
            <a:r>
              <a:rPr lang="de-CH" sz="1800" dirty="0"/>
              <a:t> </a:t>
            </a:r>
            <a:r>
              <a:rPr lang="de-CH" sz="1800" dirty="0" err="1"/>
              <a:t>schema</a:t>
            </a:r>
            <a:r>
              <a:rPr lang="de-CH" sz="1800" dirty="0"/>
              <a:t> </a:t>
            </a:r>
            <a:r>
              <a:rPr lang="de-CH" sz="1800" dirty="0" err="1"/>
              <a:t>level</a:t>
            </a:r>
            <a:r>
              <a:rPr lang="de-CH" sz="1800" dirty="0"/>
              <a:t>, </a:t>
            </a:r>
            <a:r>
              <a:rPr lang="de-CH" sz="1800" dirty="0" err="1"/>
              <a:t>wrong</a:t>
            </a:r>
            <a:r>
              <a:rPr lang="de-CH" sz="1800" dirty="0"/>
              <a:t> </a:t>
            </a:r>
            <a:r>
              <a:rPr lang="de-CH" sz="1800" dirty="0" err="1"/>
              <a:t>joins</a:t>
            </a:r>
            <a:r>
              <a:rPr lang="de-CH" sz="1800" dirty="0"/>
              <a:t> and </a:t>
            </a:r>
            <a:r>
              <a:rPr lang="de-CH" sz="1800" dirty="0" err="1"/>
              <a:t>hallucinated</a:t>
            </a:r>
            <a:r>
              <a:rPr lang="de-CH" sz="1800" dirty="0"/>
              <a:t> </a:t>
            </a:r>
            <a:r>
              <a:rPr lang="de-CH" sz="1800" dirty="0" err="1"/>
              <a:t>columns</a:t>
            </a:r>
            <a:r>
              <a:rPr lang="de-CH" sz="1800" dirty="0"/>
              <a:t> </a:t>
            </a:r>
            <a:r>
              <a:rPr lang="de-CH" sz="1800" dirty="0" err="1"/>
              <a:t>account</a:t>
            </a:r>
            <a:r>
              <a:rPr lang="de-CH" sz="1800" dirty="0"/>
              <a:t> </a:t>
            </a:r>
            <a:r>
              <a:rPr lang="de-CH" sz="1800" dirty="0" err="1"/>
              <a:t>for</a:t>
            </a:r>
            <a:r>
              <a:rPr lang="de-CH" sz="1800" dirty="0"/>
              <a:t> 11 </a:t>
            </a:r>
            <a:r>
              <a:rPr lang="de-CH" sz="1800" dirty="0" err="1"/>
              <a:t>of</a:t>
            </a:r>
            <a:r>
              <a:rPr lang="de-CH" sz="1800" dirty="0"/>
              <a:t> </a:t>
            </a:r>
            <a:r>
              <a:rPr lang="de-CH" sz="1800" dirty="0" err="1"/>
              <a:t>the</a:t>
            </a:r>
            <a:r>
              <a:rPr lang="de-CH" sz="1800" dirty="0"/>
              <a:t> 14 </a:t>
            </a:r>
            <a:r>
              <a:rPr lang="de-CH" sz="1800" dirty="0" err="1"/>
              <a:t>failures</a:t>
            </a:r>
            <a:endParaRPr lang="de-CH" sz="1800" dirty="0"/>
          </a:p>
          <a:p>
            <a:pPr lvl="1"/>
            <a:r>
              <a:rPr lang="de-CH" sz="1800" dirty="0" err="1"/>
              <a:t>Accuracy</a:t>
            </a:r>
            <a:r>
              <a:rPr lang="de-CH" sz="1800" dirty="0"/>
              <a:t> </a:t>
            </a:r>
            <a:r>
              <a:rPr lang="de-CH" sz="1800" dirty="0" err="1"/>
              <a:t>drops</a:t>
            </a:r>
            <a:r>
              <a:rPr lang="de-CH" sz="1800" dirty="0"/>
              <a:t> </a:t>
            </a:r>
            <a:r>
              <a:rPr lang="de-CH" sz="1800" dirty="0" err="1"/>
              <a:t>sharply</a:t>
            </a:r>
            <a:r>
              <a:rPr lang="de-CH" sz="1800" dirty="0"/>
              <a:t> </a:t>
            </a:r>
            <a:r>
              <a:rPr lang="de-CH" sz="1800" dirty="0" err="1"/>
              <a:t>with</a:t>
            </a:r>
            <a:r>
              <a:rPr lang="de-CH" sz="1800" dirty="0"/>
              <a:t> </a:t>
            </a:r>
            <a:r>
              <a:rPr lang="de-CH" sz="1800" dirty="0" err="1"/>
              <a:t>increasing</a:t>
            </a:r>
            <a:r>
              <a:rPr lang="de-CH" sz="1800" dirty="0"/>
              <a:t> </a:t>
            </a:r>
            <a:r>
              <a:rPr lang="de-CH" sz="1800" dirty="0" err="1"/>
              <a:t>difficultyEasy</a:t>
            </a:r>
            <a:r>
              <a:rPr lang="de-CH" sz="1800" dirty="0"/>
              <a:t>: 67%</a:t>
            </a:r>
          </a:p>
          <a:p>
            <a:pPr lvl="1"/>
            <a:r>
              <a:rPr lang="de-CH" sz="1800" dirty="0"/>
              <a:t>Extra: 0%</a:t>
            </a:r>
          </a:p>
          <a:p>
            <a:pPr marL="457200" lvl="1" indent="0">
              <a:buNone/>
            </a:pPr>
            <a:endParaRPr lang="de-CH" sz="1800" dirty="0"/>
          </a:p>
          <a:p>
            <a:r>
              <a:rPr lang="de-CH" sz="1800" dirty="0"/>
              <a:t>2 </a:t>
            </a:r>
            <a:r>
              <a:rPr lang="de-CH" sz="1800" dirty="0" err="1"/>
              <a:t>of</a:t>
            </a:r>
            <a:r>
              <a:rPr lang="de-CH" sz="1800" dirty="0"/>
              <a:t> </a:t>
            </a:r>
            <a:r>
              <a:rPr lang="de-CH" sz="1800" dirty="0" err="1"/>
              <a:t>the</a:t>
            </a:r>
            <a:r>
              <a:rPr lang="de-CH" sz="1800" dirty="0"/>
              <a:t> 4 “</a:t>
            </a:r>
            <a:r>
              <a:rPr lang="de-CH" sz="1800" dirty="0" err="1"/>
              <a:t>correct</a:t>
            </a:r>
            <a:r>
              <a:rPr lang="de-CH" sz="1800" dirty="0"/>
              <a:t>” </a:t>
            </a:r>
            <a:r>
              <a:rPr lang="de-CH" sz="1800" dirty="0" err="1"/>
              <a:t>answers</a:t>
            </a:r>
            <a:r>
              <a:rPr lang="de-CH" sz="1800" dirty="0"/>
              <a:t> </a:t>
            </a:r>
            <a:r>
              <a:rPr lang="de-CH" sz="1800" dirty="0" err="1"/>
              <a:t>were</a:t>
            </a:r>
            <a:r>
              <a:rPr lang="de-CH" sz="1800" dirty="0"/>
              <a:t> </a:t>
            </a:r>
            <a:r>
              <a:rPr lang="de-CH" sz="1800" dirty="0" err="1"/>
              <a:t>only</a:t>
            </a:r>
            <a:r>
              <a:rPr lang="de-CH" sz="1800" dirty="0"/>
              <a:t> lucky </a:t>
            </a:r>
            <a:r>
              <a:rPr lang="de-CH" sz="1800" dirty="0" err="1"/>
              <a:t>guesses</a:t>
            </a:r>
            <a:endParaRPr lang="de-CH" sz="1800" dirty="0"/>
          </a:p>
          <a:p>
            <a:r>
              <a:rPr lang="de-CH" sz="1800" dirty="0" err="1"/>
              <a:t>Effective</a:t>
            </a:r>
            <a:r>
              <a:rPr lang="de-CH" sz="1800" dirty="0"/>
              <a:t> real </a:t>
            </a:r>
            <a:r>
              <a:rPr lang="de-CH" sz="1800" dirty="0" err="1"/>
              <a:t>accuracy</a:t>
            </a:r>
            <a:r>
              <a:rPr lang="de-CH" sz="1800" dirty="0"/>
              <a:t> </a:t>
            </a:r>
            <a:r>
              <a:rPr lang="de-CH" sz="1800" dirty="0" err="1"/>
              <a:t>is</a:t>
            </a:r>
            <a:r>
              <a:rPr lang="de-CH" sz="1800" dirty="0"/>
              <a:t> </a:t>
            </a:r>
            <a:r>
              <a:rPr lang="de-CH" sz="1800" dirty="0" err="1"/>
              <a:t>therefore</a:t>
            </a:r>
            <a:r>
              <a:rPr lang="de-CH" sz="1800" dirty="0"/>
              <a:t> </a:t>
            </a:r>
            <a:r>
              <a:rPr lang="de-CH" sz="1800" dirty="0" err="1"/>
              <a:t>closer</a:t>
            </a:r>
            <a:r>
              <a:rPr lang="de-CH" sz="1800" dirty="0"/>
              <a:t> </a:t>
            </a:r>
            <a:r>
              <a:rPr lang="de-CH" sz="1800" dirty="0" err="1"/>
              <a:t>to</a:t>
            </a:r>
            <a:r>
              <a:rPr lang="de-CH" sz="1800" dirty="0"/>
              <a:t> ~11%</a:t>
            </a:r>
            <a:endParaRPr lang="de-DE" sz="1800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49FD61F9-971B-17DF-98CB-B996CC2753DE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843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dirty="0"/>
              <a:t> Analysis </a:t>
            </a:r>
            <a:r>
              <a:rPr lang="de-DE" sz="4000" dirty="0" err="1"/>
              <a:t>of</a:t>
            </a:r>
            <a:r>
              <a:rPr lang="de-DE" sz="4000" dirty="0"/>
              <a:t> Errors / Model </a:t>
            </a:r>
            <a:r>
              <a:rPr lang="de-DE" sz="4000" dirty="0" err="1"/>
              <a:t>Limitations</a:t>
            </a:r>
            <a:r>
              <a:rPr lang="de-DE" sz="4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63088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09C091D1-3E00-6659-7EB0-35A25B7CD0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4920" b="28557"/>
          <a:stretch>
            <a:fillRect/>
          </a:stretch>
        </p:blipFill>
        <p:spPr>
          <a:xfrm>
            <a:off x="1277815" y="1327816"/>
            <a:ext cx="6554235" cy="3268803"/>
          </a:xfrm>
          <a:prstGeom prst="rect">
            <a:avLst/>
          </a:prstGeom>
        </p:spPr>
      </p:pic>
      <p:sp>
        <p:nvSpPr>
          <p:cNvPr id="3" name="Titel 1">
            <a:extLst>
              <a:ext uri="{FF2B5EF4-FFF2-40B4-BE49-F238E27FC236}">
                <a16:creationId xmlns:a16="http://schemas.microsoft.com/office/drawing/2014/main" id="{4CC9FDCF-71D8-6A0F-4204-03476619D79E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843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dirty="0"/>
              <a:t>Text-</a:t>
            </a:r>
            <a:r>
              <a:rPr lang="de-DE" sz="4000" dirty="0" err="1"/>
              <a:t>to</a:t>
            </a:r>
            <a:r>
              <a:rPr lang="de-DE" sz="4000" dirty="0"/>
              <a:t>-SQL Experiments </a:t>
            </a:r>
          </a:p>
        </p:txBody>
      </p:sp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0D908C01-1D11-ABBF-7F33-921C021603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4102"/>
          <a:stretch>
            <a:fillRect/>
          </a:stretch>
        </p:blipFill>
        <p:spPr>
          <a:xfrm>
            <a:off x="3746574" y="4715401"/>
            <a:ext cx="8170952" cy="18671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2F4A99-E249-3279-D6BE-D02234BC1A77}"/>
              </a:ext>
            </a:extLst>
          </p:cNvPr>
          <p:cNvSpPr txBox="1"/>
          <p:nvPr/>
        </p:nvSpPr>
        <p:spPr>
          <a:xfrm>
            <a:off x="3634154" y="4715400"/>
            <a:ext cx="8405446" cy="19901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CH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CC61B0-EF56-45D5-2DBA-6B313520AE97}"/>
              </a:ext>
            </a:extLst>
          </p:cNvPr>
          <p:cNvSpPr txBox="1"/>
          <p:nvPr/>
        </p:nvSpPr>
        <p:spPr>
          <a:xfrm rot="16200000">
            <a:off x="-94147" y="2550132"/>
            <a:ext cx="2234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Execution</a:t>
            </a:r>
            <a:r>
              <a:rPr lang="de-DE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de-DE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Accuracy</a:t>
            </a:r>
            <a:endParaRPr lang="en-CH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DA8926-E4BE-2100-50E3-ABDCEE838189}"/>
              </a:ext>
            </a:extLst>
          </p:cNvPr>
          <p:cNvSpPr txBox="1"/>
          <p:nvPr/>
        </p:nvSpPr>
        <p:spPr>
          <a:xfrm>
            <a:off x="838200" y="1204744"/>
            <a:ext cx="6699738" cy="3387584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888603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FD7C27D7-D5D1-FDDB-6955-382DE9364D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7201" b="28304"/>
          <a:stretch>
            <a:fillRect/>
          </a:stretch>
        </p:blipFill>
        <p:spPr>
          <a:xfrm>
            <a:off x="636373" y="1431775"/>
            <a:ext cx="11319078" cy="4866820"/>
          </a:xfrm>
          <a:prstGeom prst="rect">
            <a:avLst/>
          </a:prstGeom>
        </p:spPr>
      </p:pic>
      <p:sp>
        <p:nvSpPr>
          <p:cNvPr id="3" name="Titel 1">
            <a:extLst>
              <a:ext uri="{FF2B5EF4-FFF2-40B4-BE49-F238E27FC236}">
                <a16:creationId xmlns:a16="http://schemas.microsoft.com/office/drawing/2014/main" id="{427E9092-3E2F-4C1C-61BA-028E0CAB5C7A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843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sz="4000" dirty="0" err="1"/>
              <a:t>Testing</a:t>
            </a:r>
            <a:r>
              <a:rPr lang="de-CH" sz="4000" dirty="0"/>
              <a:t> </a:t>
            </a:r>
            <a:r>
              <a:rPr lang="de-CH" sz="4000" dirty="0" err="1"/>
              <a:t>overfitting</a:t>
            </a:r>
            <a:r>
              <a:rPr lang="de-CH" sz="4000" dirty="0"/>
              <a:t> on </a:t>
            </a:r>
            <a:r>
              <a:rPr lang="de-CH" sz="4000" dirty="0" err="1"/>
              <a:t>new</a:t>
            </a:r>
            <a:r>
              <a:rPr lang="de-CH" sz="4000" dirty="0"/>
              <a:t> </a:t>
            </a:r>
            <a:r>
              <a:rPr lang="de-CH" sz="4000" dirty="0" err="1"/>
              <a:t>test</a:t>
            </a:r>
            <a:r>
              <a:rPr lang="de-CH" sz="4000" dirty="0"/>
              <a:t> </a:t>
            </a:r>
            <a:r>
              <a:rPr lang="de-CH" sz="4000" dirty="0" err="1"/>
              <a:t>set</a:t>
            </a:r>
            <a:endParaRPr lang="de-DE" sz="4000" dirty="0"/>
          </a:p>
        </p:txBody>
      </p:sp>
    </p:spTree>
    <p:extLst>
      <p:ext uri="{BB962C8B-B14F-4D97-AF65-F5344CB8AC3E}">
        <p14:creationId xmlns:p14="http://schemas.microsoft.com/office/powerpoint/2010/main" val="1858057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Inhaltsplatzhalter 2">
            <a:extLst>
              <a:ext uri="{FF2B5EF4-FFF2-40B4-BE49-F238E27FC236}">
                <a16:creationId xmlns:a16="http://schemas.microsoft.com/office/drawing/2014/main" id="{3C23C2AE-725F-7B55-471D-EEA04DB0F3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0245339"/>
              </p:ext>
            </p:extLst>
          </p:nvPr>
        </p:nvGraphicFramePr>
        <p:xfrm>
          <a:off x="838200" y="1253331"/>
          <a:ext cx="10111155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itel 1">
            <a:extLst>
              <a:ext uri="{FF2B5EF4-FFF2-40B4-BE49-F238E27FC236}">
                <a16:creationId xmlns:a16="http://schemas.microsoft.com/office/drawing/2014/main" id="{D1557C82-2D46-B202-01B1-1D50F349B39F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843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dirty="0" err="1"/>
              <a:t>Conclusion</a:t>
            </a:r>
            <a:r>
              <a:rPr lang="de-DE" sz="4000" dirty="0"/>
              <a:t>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4086725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393</Words>
  <Application>Microsoft Macintosh PowerPoint</Application>
  <PresentationFormat>Widescreen</PresentationFormat>
  <Paragraphs>61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</vt:lpstr>
      <vt:lpstr>DWH2 Final Projekt</vt:lpstr>
      <vt:lpstr>Dataset Choice &amp; Rationale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Kryeziu Leona (xkye)</dc:creator>
  <cp:lastModifiedBy>Johnson Michal (johnsmic)</cp:lastModifiedBy>
  <cp:revision>28</cp:revision>
  <dcterms:created xsi:type="dcterms:W3CDTF">2026-05-14T11:12:32Z</dcterms:created>
  <dcterms:modified xsi:type="dcterms:W3CDTF">2026-05-15T09:34:32Z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d9bad3-6dac-4e9a-89a3-89f3b8d247b2_Enabled">
    <vt:lpwstr>true</vt:lpwstr>
  </property>
  <property fmtid="{D5CDD505-2E9C-101B-9397-08002B2CF9AE}" pid="3" name="MSIP_Label_10d9bad3-6dac-4e9a-89a3-89f3b8d247b2_SetDate">
    <vt:lpwstr>2026-05-14T11:15:41Z</vt:lpwstr>
  </property>
  <property fmtid="{D5CDD505-2E9C-101B-9397-08002B2CF9AE}" pid="4" name="MSIP_Label_10d9bad3-6dac-4e9a-89a3-89f3b8d247b2_Method">
    <vt:lpwstr>Standard</vt:lpwstr>
  </property>
  <property fmtid="{D5CDD505-2E9C-101B-9397-08002B2CF9AE}" pid="5" name="MSIP_Label_10d9bad3-6dac-4e9a-89a3-89f3b8d247b2_Name">
    <vt:lpwstr>10d9bad3-6dac-4e9a-89a3-89f3b8d247b2</vt:lpwstr>
  </property>
  <property fmtid="{D5CDD505-2E9C-101B-9397-08002B2CF9AE}" pid="6" name="MSIP_Label_10d9bad3-6dac-4e9a-89a3-89f3b8d247b2_SiteId">
    <vt:lpwstr>5d1a9f9d-201f-4a10-b983-451cf65cbc1e</vt:lpwstr>
  </property>
  <property fmtid="{D5CDD505-2E9C-101B-9397-08002B2CF9AE}" pid="7" name="MSIP_Label_10d9bad3-6dac-4e9a-89a3-89f3b8d247b2_ActionId">
    <vt:lpwstr>cf3c26e8-d82d-472b-b2dd-120e5b4670ca</vt:lpwstr>
  </property>
  <property fmtid="{D5CDD505-2E9C-101B-9397-08002B2CF9AE}" pid="8" name="MSIP_Label_10d9bad3-6dac-4e9a-89a3-89f3b8d247b2_ContentBits">
    <vt:lpwstr>0</vt:lpwstr>
  </property>
  <property fmtid="{D5CDD505-2E9C-101B-9397-08002B2CF9AE}" pid="9" name="MSIP_Label_10d9bad3-6dac-4e9a-89a3-89f3b8d247b2_Tag">
    <vt:lpwstr>50, 3, 0, 1</vt:lpwstr>
  </property>
</Properties>
</file>