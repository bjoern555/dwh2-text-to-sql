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92"/>
    <p:restoredTop sz="94658"/>
  </p:normalViewPr>
  <p:slideViewPr>
    <p:cSldViewPr snapToGrid="0">
      <p:cViewPr varScale="1">
        <p:scale>
          <a:sx n="106" d="100"/>
          <a:sy n="106" d="100"/>
        </p:scale>
        <p:origin x="200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0988C-BBB2-3A42-8898-F774E2AA35B7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AE7357-186D-1741-AC65-6D5045F5A14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1876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with</a:t>
            </a:r>
            <a:r>
              <a:rPr lang="de-DE" dirty="0"/>
              <a:t> Input, </a:t>
            </a:r>
            <a:r>
              <a:rPr lang="de-DE" dirty="0" err="1"/>
              <a:t>Generated</a:t>
            </a:r>
            <a:r>
              <a:rPr lang="de-DE" dirty="0"/>
              <a:t> SQL, and </a:t>
            </a:r>
            <a:r>
              <a:rPr lang="de-DE" dirty="0" err="1"/>
              <a:t>Result</a:t>
            </a:r>
            <a:r>
              <a:rPr lang="de-DE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AE7357-186D-1741-AC65-6D5045F5A14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3867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B02E78-12AD-D096-14A6-705454B8EE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CFE06E-E3E3-8190-557E-CA6B7D24AD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007415-95C0-ADF6-BF1E-81623BBF3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D5C6CC-4C48-2059-91AE-C6419CFDF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70D934-708A-02A1-FAA7-4E546C651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0972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121727-6DA7-83C4-15B0-48D3BCDC5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63CF11-D0D1-55FC-2A9E-E5B4239A3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32C427-EBA0-6588-26EC-6BD94A41E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32EB2E-8904-68AC-4141-E4BBD33C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BFD955A-76CB-D4D9-63C6-377A2D5D8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5766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665B1A-776A-CD5C-68FE-B2D4199F8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829B802-9DC2-5093-D132-E7B634E7BC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170FC6-BDB1-7B9E-E17C-36C7445A8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074DB6-9E82-74E1-53D2-A956497B9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FADD12-AE26-C1C5-A31D-F3DAA4927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18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9BD7E-C053-4E20-DA66-656FE9B68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3E682-9953-9ED7-B4CA-22D5F47FB4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3608995-66BD-9D50-36F7-6CFB70764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6D4D49-8A13-5A9A-4CD8-93DBBEDDD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AB3445C-3CC1-BDD5-0DA0-32B8F1EB0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06399B-0E26-6A52-7B7C-1CC84021B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1685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8B6F68-4F71-603F-457B-98C3A8F7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276066D-7899-E5C4-2CB7-9945FD4503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37C4941-5768-5676-8B15-85612ABD62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BFF315-E76C-CD46-1447-98E09CD518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842010-3B32-8116-8464-409CA948E1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7ACB152-2142-EB0C-8103-EDAA46C79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7BB6191-181E-698D-3B9C-D5EDBD2D2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41113B-6E7A-2611-21F5-EA371FDB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613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56F0F3-4B25-A656-1DCA-3FE73636C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21AE44-1F36-8220-2170-AC4741645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15932BF-812D-E078-F413-3B17A9F4A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FCEE7E-D82C-D233-5A6A-31343701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861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1A22DB1-A5B2-32F1-5FD1-A556BFA83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726E7BC-7B22-92CC-9CF5-AA111A50A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CB4E85-29C9-87F9-F2C6-BCAC550B1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028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078E88-4A5C-3873-0C4E-34651F2BA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FD98EB-C24C-D7C0-1460-87A68DACC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876A193-4786-E291-7149-296E435669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C77B1D6-4EA6-A61A-EDBD-1F0A77C94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7EA85D8-73F7-2FCA-02EE-9A480548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6CC95DA-D206-7243-C69D-76F063E5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6308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E260FF-B9D4-4EAE-29F8-47BABA57A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3BB75D9-2DA6-9796-2E81-33AE5FCCC6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524F0E-307A-A8EC-B368-DA647E871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351943-B8E4-A7ED-6D76-2D7618EA6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18E3C26-9995-7BEF-3636-701B85304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683E5F6-A2C3-4132-C3B0-08B78D2AD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040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98DF37-EF77-20AE-8097-E74F2B06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A4F0F1-969E-38E6-9C27-A338BD1A7D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6EC75B-8128-BA56-A88F-CC1A0B5C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7CEFAF-92AD-CB84-CBC9-BAE2141E7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9F54BD7-2D23-886A-4A0B-DE362C274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7300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5BC8652-010B-0E25-A94B-C45295CB4B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02FEC3D-5D2F-26A9-9968-0D87A64FB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FD6412-EB7D-EA52-2E47-E9AFDCF01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88D222-CB05-8A0A-0E75-87DF0A8E7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7531FB-9AEF-338C-CD48-6166517AC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9682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EDA4F35-E512-05BD-2964-E5522F653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21C280-CF64-82B7-7BEE-6CCEC6FD8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C22412-D82C-7321-B268-105184A82A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D1D3F2-986D-2246-ACEA-731AA1390683}" type="datetimeFigureOut">
              <a:rPr lang="de-DE" smtClean="0"/>
              <a:t>14.05.26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48DD2F-525D-A163-9586-035B9E9AC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6A82D5-4F04-DA4B-9DD0-4A46E18855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63751F-37BF-D74F-B69D-3AF8A8D5C5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7075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98E9CB-4201-8229-9266-1C9FDAA22A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DWH2 Final Projekt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383FCC-0A2F-C626-64CE-15ECC5039D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5946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9896AB-2B98-91F9-E72E-889CB44D4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 Choice &amp; Rationale 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C1F74A9D-0266-366D-717F-903D76FDB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6328483"/>
              </p:ext>
            </p:extLst>
          </p:nvPr>
        </p:nvGraphicFramePr>
        <p:xfrm>
          <a:off x="838200" y="1690688"/>
          <a:ext cx="10515600" cy="2194560"/>
        </p:xfrm>
        <a:graphic>
          <a:graphicData uri="http://schemas.openxmlformats.org/drawingml/2006/table">
            <a:tbl>
              <a:tblPr>
                <a:tableStyleId>{B301B821-A1FF-4177-AEE7-76D212191A09}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55861556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6074401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5488222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Difficulty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Count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Question IDs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2151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easy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779, 268, 297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1696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89, 506, 708, 569, 861, 605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042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hard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94, 155, 259, 426, 534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4393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extra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dirty="0"/>
                        <a:t>120, 284, 551, 591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42172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b="1"/>
                        <a:t>Total</a:t>
                      </a:r>
                      <a:endParaRPr lang="de-CH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b="1" dirty="0"/>
                        <a:t>18</a:t>
                      </a:r>
                      <a:endParaRPr lang="de-CH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CH" dirty="0"/>
                        <a:t>9 easy/</a:t>
                      </a:r>
                      <a:r>
                        <a:rPr lang="de-CH" dirty="0" err="1"/>
                        <a:t>med</a:t>
                      </a:r>
                      <a:r>
                        <a:rPr lang="de-CH" dirty="0"/>
                        <a:t> + 9 </a:t>
                      </a:r>
                      <a:r>
                        <a:rPr lang="de-CH" dirty="0" err="1"/>
                        <a:t>hard</a:t>
                      </a:r>
                      <a:r>
                        <a:rPr lang="de-CH" dirty="0"/>
                        <a:t>/extra = 50/50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655336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EA866D39-B20D-A32F-B5CC-151FEADA5123}"/>
              </a:ext>
            </a:extLst>
          </p:cNvPr>
          <p:cNvSpPr txBox="1"/>
          <p:nvPr/>
        </p:nvSpPr>
        <p:spPr>
          <a:xfrm>
            <a:off x="820396" y="4366901"/>
            <a:ext cx="521264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b="1" dirty="0"/>
              <a:t>Why </a:t>
            </a:r>
            <a:r>
              <a:rPr lang="de-CH" b="1" dirty="0" err="1"/>
              <a:t>FootballDB</a:t>
            </a:r>
            <a:r>
              <a:rPr lang="de-CH" b="1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Universally</a:t>
            </a:r>
            <a:r>
              <a:rPr lang="de-CH" dirty="0"/>
              <a:t> </a:t>
            </a:r>
            <a:r>
              <a:rPr lang="de-CH" dirty="0" err="1"/>
              <a:t>familiar</a:t>
            </a:r>
            <a:r>
              <a:rPr lang="de-CH" dirty="0"/>
              <a:t> </a:t>
            </a:r>
            <a:r>
              <a:rPr lang="de-CH" dirty="0" err="1"/>
              <a:t>domain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Query </a:t>
            </a:r>
            <a:r>
              <a:rPr lang="de-CH" dirty="0" err="1"/>
              <a:t>results</a:t>
            </a:r>
            <a:r>
              <a:rPr lang="de-CH" dirty="0"/>
              <a:t> </a:t>
            </a:r>
            <a:r>
              <a:rPr lang="de-CH" dirty="0" err="1"/>
              <a:t>can</a:t>
            </a:r>
            <a:r>
              <a:rPr lang="de-CH" dirty="0"/>
              <a:t> </a:t>
            </a:r>
            <a:r>
              <a:rPr lang="de-CH" dirty="0" err="1"/>
              <a:t>be</a:t>
            </a:r>
            <a:r>
              <a:rPr lang="de-CH" dirty="0"/>
              <a:t> </a:t>
            </a:r>
            <a:r>
              <a:rPr lang="de-CH" dirty="0" err="1"/>
              <a:t>validated</a:t>
            </a:r>
            <a:r>
              <a:rPr lang="de-CH" dirty="0"/>
              <a:t> </a:t>
            </a:r>
            <a:r>
              <a:rPr lang="de-CH" dirty="0" err="1"/>
              <a:t>intuitively</a:t>
            </a:r>
            <a:endParaRPr lang="de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No</a:t>
            </a:r>
            <a:r>
              <a:rPr lang="de-CH" dirty="0"/>
              <a:t> </a:t>
            </a:r>
            <a:r>
              <a:rPr lang="de-CH" dirty="0" err="1"/>
              <a:t>need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study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database</a:t>
            </a:r>
            <a:r>
              <a:rPr lang="de-CH" dirty="0"/>
              <a:t> </a:t>
            </a:r>
            <a:r>
              <a:rPr lang="de-CH" dirty="0" err="1"/>
              <a:t>schema</a:t>
            </a:r>
            <a:r>
              <a:rPr lang="de-CH" dirty="0"/>
              <a:t> in </a:t>
            </a:r>
            <a:r>
              <a:rPr lang="de-CH" dirty="0" err="1"/>
              <a:t>depth</a:t>
            </a:r>
            <a:endParaRPr lang="de-CH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2760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2D1651-74E0-9B0C-D371-B36936148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 System Architecture / Setup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8F12A3-D4B0-192E-EFDC-D76052B96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43600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CH" sz="2100" b="1" dirty="0"/>
              <a:t>LLM:</a:t>
            </a:r>
            <a:endParaRPr lang="de-CH" sz="2100" dirty="0"/>
          </a:p>
          <a:p>
            <a:r>
              <a:rPr lang="de-CH" sz="2100" dirty="0"/>
              <a:t>Provider: </a:t>
            </a:r>
            <a:r>
              <a:rPr lang="de-CH" sz="2100" dirty="0" err="1"/>
              <a:t>Ollama</a:t>
            </a:r>
            <a:r>
              <a:rPr lang="de-CH" sz="2100" dirty="0"/>
              <a:t> (</a:t>
            </a:r>
            <a:r>
              <a:rPr lang="de-CH" sz="2100" dirty="0" err="1"/>
              <a:t>local</a:t>
            </a:r>
            <a:r>
              <a:rPr lang="de-CH" sz="2100" dirty="0"/>
              <a:t>) mit llama3.2:1b oder OpenAI gpt-4o-mini</a:t>
            </a:r>
          </a:p>
          <a:p>
            <a:r>
              <a:rPr lang="de-CH" sz="2100" dirty="0"/>
              <a:t>Konfigurierbar via .</a:t>
            </a:r>
            <a:r>
              <a:rPr lang="de-CH" sz="2100" dirty="0" err="1"/>
              <a:t>env</a:t>
            </a:r>
            <a:r>
              <a:rPr lang="de-CH" sz="2100" dirty="0"/>
              <a:t> (LLM_PROVIDER, OLLAMA_MODEL, OPENAI_MODEL)</a:t>
            </a:r>
          </a:p>
          <a:p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Database</a:t>
            </a:r>
            <a:endParaRPr lang="de-CH" sz="2100" dirty="0"/>
          </a:p>
          <a:p>
            <a:r>
              <a:rPr lang="de-CH" sz="2100" dirty="0"/>
              <a:t>PostgreSQL, Schema exp_v3, gehostet auf ZHAW-Server</a:t>
            </a:r>
          </a:p>
          <a:p>
            <a:r>
              <a:rPr lang="de-CH" sz="2100" dirty="0"/>
              <a:t>Verbindung via </a:t>
            </a:r>
            <a:r>
              <a:rPr lang="de-CH" sz="2100" dirty="0" err="1"/>
              <a:t>LangChain</a:t>
            </a:r>
            <a:r>
              <a:rPr lang="de-CH" sz="2100" dirty="0"/>
              <a:t> </a:t>
            </a:r>
            <a:r>
              <a:rPr lang="de-CH" sz="2100" dirty="0" err="1"/>
              <a:t>SQLDatabase</a:t>
            </a:r>
            <a:endParaRPr lang="de-CH" sz="2100" dirty="0"/>
          </a:p>
          <a:p>
            <a:pPr marL="0" indent="0">
              <a:buNone/>
            </a:pPr>
            <a:endParaRPr lang="de-CH" sz="2100" b="1" dirty="0"/>
          </a:p>
          <a:p>
            <a:pPr marL="0" indent="0">
              <a:buNone/>
            </a:pPr>
            <a:r>
              <a:rPr lang="de-CH" sz="2100" b="1" dirty="0"/>
              <a:t>Evaluation </a:t>
            </a:r>
            <a:r>
              <a:rPr lang="de-CH" sz="2100" b="1" dirty="0" err="1"/>
              <a:t>Metric</a:t>
            </a:r>
            <a:endParaRPr lang="de-CH" sz="2100" dirty="0"/>
          </a:p>
          <a:p>
            <a:r>
              <a:rPr lang="de-CH" sz="2100" dirty="0" err="1"/>
              <a:t>Execution</a:t>
            </a:r>
            <a:r>
              <a:rPr lang="de-CH" sz="2100" dirty="0"/>
              <a:t> </a:t>
            </a:r>
            <a:r>
              <a:rPr lang="de-CH" sz="2100" dirty="0" err="1"/>
              <a:t>Accuracy</a:t>
            </a:r>
            <a:r>
              <a:rPr lang="de-CH" sz="2100" dirty="0"/>
              <a:t>: </a:t>
            </a:r>
            <a:r>
              <a:rPr lang="de-CH" sz="2100" dirty="0" err="1"/>
              <a:t>Predicted</a:t>
            </a:r>
            <a:r>
              <a:rPr lang="de-CH" sz="2100" dirty="0"/>
              <a:t> </a:t>
            </a:r>
            <a:r>
              <a:rPr lang="de-CH" sz="2100" dirty="0" err="1"/>
              <a:t>result</a:t>
            </a:r>
            <a:r>
              <a:rPr lang="de-CH" sz="2100" dirty="0"/>
              <a:t> == Gold </a:t>
            </a:r>
            <a:r>
              <a:rPr lang="de-CH" sz="2100" dirty="0" err="1"/>
              <a:t>result</a:t>
            </a:r>
            <a:r>
              <a:rPr lang="de-CH" sz="2100" dirty="0"/>
              <a:t> (</a:t>
            </a:r>
            <a:r>
              <a:rPr lang="de-CH" sz="2100" dirty="0" err="1"/>
              <a:t>exact</a:t>
            </a:r>
            <a:r>
              <a:rPr lang="de-CH" sz="2100" dirty="0"/>
              <a:t> match)</a:t>
            </a:r>
          </a:p>
          <a:p>
            <a:r>
              <a:rPr lang="de-CH" sz="2100" dirty="0"/>
              <a:t>Test Set: 18 Fragen (Easy 3 / Medium 6 / Hard 5 / Extra 4)</a:t>
            </a:r>
          </a:p>
          <a:p>
            <a:pPr marL="0" indent="0">
              <a:buNone/>
            </a:pPr>
            <a:br>
              <a:rPr lang="de-CH" sz="1800" dirty="0"/>
            </a:br>
            <a:endParaRPr lang="de-CH" sz="1800" dirty="0"/>
          </a:p>
          <a:p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3A03BDE-D80C-E062-846F-FAB338547B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48400" y="1446327"/>
            <a:ext cx="6133230" cy="5411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02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AF28D5-FA89-E037-4CF4-5DE8201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6924"/>
          </a:xfrm>
        </p:spPr>
        <p:txBody>
          <a:bodyPr/>
          <a:lstStyle/>
          <a:p>
            <a:r>
              <a:rPr lang="de-DE" dirty="0"/>
              <a:t> Query </a:t>
            </a:r>
            <a:r>
              <a:rPr lang="de-DE" dirty="0" err="1"/>
              <a:t>Examples</a:t>
            </a:r>
            <a:r>
              <a:rPr lang="de-DE" dirty="0"/>
              <a:t> 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3A69168E-09A6-3D56-CE85-43FE76E1D8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19663" y="1248209"/>
            <a:ext cx="6152674" cy="56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947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E48C804D-1D92-8743-183B-2C02ED152C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5476" y="326345"/>
            <a:ext cx="9075634" cy="6263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87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DDCF48-2DDB-2872-CC98-A72A2E6EE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 Analysis </a:t>
            </a:r>
            <a:r>
              <a:rPr lang="de-DE" dirty="0" err="1"/>
              <a:t>of</a:t>
            </a:r>
            <a:r>
              <a:rPr lang="de-DE" dirty="0"/>
              <a:t> Errors / Model </a:t>
            </a:r>
            <a:r>
              <a:rPr lang="de-DE" dirty="0" err="1"/>
              <a:t>Limitations</a:t>
            </a:r>
            <a:r>
              <a:rPr lang="de-DE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35FEAA-D7AE-AD4D-00B7-CABF44CE8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3088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9C091D1-3E00-6659-7EB0-35A25B7CD0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7809" y="261520"/>
            <a:ext cx="7041769" cy="621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603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8191700-7A1A-EE6D-EAAF-9424295F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r>
              <a:rPr lang="de-DE" dirty="0"/>
              <a:t> and </a:t>
            </a:r>
            <a:r>
              <a:rPr lang="de-DE"/>
              <a:t>Future Work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A94E92-9C9B-1DA6-0E75-4BBF6EC3A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6725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191</Words>
  <Application>Microsoft Macintosh PowerPoint</Application>
  <PresentationFormat>Breitbild</PresentationFormat>
  <Paragraphs>42</Paragraphs>
  <Slides>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</vt:lpstr>
      <vt:lpstr>DWH2 Final Projekt</vt:lpstr>
      <vt:lpstr>Dataset Choice &amp; Rationale </vt:lpstr>
      <vt:lpstr> System Architecture / Setup </vt:lpstr>
      <vt:lpstr> Query Examples </vt:lpstr>
      <vt:lpstr>PowerPoint-Präsentation</vt:lpstr>
      <vt:lpstr> Analysis of Errors / Model Limitations </vt:lpstr>
      <vt:lpstr>PowerPoint-Präsentation</vt:lpstr>
      <vt:lpstr>Conclusion and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Kryeziu Leona (xkye)</dc:creator>
  <cp:lastModifiedBy>Kryeziu Leona (xkye)</cp:lastModifiedBy>
  <cp:revision>18</cp:revision>
  <dcterms:created xsi:type="dcterms:W3CDTF">2026-05-14T11:12:32Z</dcterms:created>
  <dcterms:modified xsi:type="dcterms:W3CDTF">2026-05-14T14:19:31Z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2026-05-14T11:15:41Z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cf3c26e8-d82d-472b-b2dd-120e5b4670ca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50, 3, 0, 1</vt:lpwstr>
  </property>
</Properties>
</file>